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335" r:id="rId2"/>
    <p:sldId id="280" r:id="rId3"/>
    <p:sldId id="322" r:id="rId4"/>
    <p:sldId id="324" r:id="rId5"/>
    <p:sldId id="323" r:id="rId6"/>
    <p:sldId id="327" r:id="rId7"/>
    <p:sldId id="326" r:id="rId8"/>
    <p:sldId id="325" r:id="rId9"/>
    <p:sldId id="328" r:id="rId10"/>
    <p:sldId id="329" r:id="rId11"/>
    <p:sldId id="330" r:id="rId12"/>
    <p:sldId id="332" r:id="rId13"/>
    <p:sldId id="333" r:id="rId14"/>
    <p:sldId id="334" r:id="rId15"/>
    <p:sldId id="275" r:id="rId16"/>
    <p:sldId id="336" r:id="rId17"/>
    <p:sldId id="276" r:id="rId18"/>
    <p:sldId id="277" r:id="rId19"/>
    <p:sldId id="278" r:id="rId20"/>
    <p:sldId id="279" r:id="rId21"/>
    <p:sldId id="281" r:id="rId22"/>
    <p:sldId id="282" r:id="rId23"/>
    <p:sldId id="283" r:id="rId24"/>
    <p:sldId id="337" r:id="rId25"/>
    <p:sldId id="284" r:id="rId26"/>
    <p:sldId id="285" r:id="rId27"/>
    <p:sldId id="286" r:id="rId28"/>
    <p:sldId id="288" r:id="rId29"/>
    <p:sldId id="289" r:id="rId30"/>
    <p:sldId id="292" r:id="rId31"/>
    <p:sldId id="290" r:id="rId32"/>
    <p:sldId id="293" r:id="rId33"/>
    <p:sldId id="294" r:id="rId34"/>
    <p:sldId id="295" r:id="rId35"/>
    <p:sldId id="300" r:id="rId36"/>
    <p:sldId id="296" r:id="rId37"/>
    <p:sldId id="297" r:id="rId38"/>
    <p:sldId id="301" r:id="rId39"/>
    <p:sldId id="307" r:id="rId40"/>
    <p:sldId id="308" r:id="rId41"/>
    <p:sldId id="309" r:id="rId42"/>
    <p:sldId id="310" r:id="rId43"/>
    <p:sldId id="311" r:id="rId44"/>
    <p:sldId id="312" r:id="rId45"/>
    <p:sldId id="313" r:id="rId46"/>
    <p:sldId id="314" r:id="rId47"/>
    <p:sldId id="315" r:id="rId48"/>
    <p:sldId id="316" r:id="rId49"/>
    <p:sldId id="317" r:id="rId50"/>
    <p:sldId id="320" r:id="rId51"/>
    <p:sldId id="321" r:id="rId52"/>
    <p:sldId id="298" r:id="rId53"/>
    <p:sldId id="302" r:id="rId54"/>
    <p:sldId id="303" r:id="rId55"/>
    <p:sldId id="304" r:id="rId56"/>
    <p:sldId id="305" r:id="rId57"/>
    <p:sldId id="306" r:id="rId58"/>
    <p:sldId id="338" r:id="rId59"/>
    <p:sldId id="274" r:id="rId6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1BED"/>
    <a:srgbClr val="1910C6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49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FD910A-05F9-467D-8433-F6183AF53660}" type="datetimeFigureOut">
              <a:rPr lang="en-US" smtClean="0"/>
              <a:pPr/>
              <a:t>2/27/2019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9045AE-80BC-491F-9B20-35F2B01B9E4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DD06-63A4-4E09-87C5-2C9F9E6768CD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4AA8-0EA0-4FE5-9C54-C36235493C1D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30AAA-5ABD-4BE8-9CDC-66CE132346BA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B4F94-F22C-4912-B252-CED557B19756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00986-B9AA-4FDB-A38D-198AAA33BD9F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A6CD-DDBA-4B36-AA49-D7AD1BB64C24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A2B2F-2620-4688-9733-1AFA6D033BAB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9A80A-5854-4325-A2DC-4CBDE60A49AF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67848-AF44-4B35-BE8E-E2111334C5CF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A182E-19EB-42C1-A968-E9B9C5B0C77A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1321-E5F9-41C6-B57C-3FFFB5BB7D95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50922-BC55-4DBD-A452-C546B56AC29D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Sunil N, R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828800"/>
            <a:ext cx="7772400" cy="1470025"/>
          </a:xfrm>
        </p:spPr>
        <p:txBody>
          <a:bodyPr>
            <a:noAutofit/>
          </a:bodyPr>
          <a:lstStyle/>
          <a:p>
            <a:r>
              <a:rPr lang="en-US" sz="6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PROGRAMMING</a:t>
            </a:r>
            <a:br>
              <a:rPr lang="en-US" sz="6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(Data Types &amp; Vectors)</a:t>
            </a:r>
            <a:endParaRPr lang="en-US" sz="66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173D6-92B4-4EE4-8302-0AF3E584CA93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86200" y="152400"/>
            <a:ext cx="16764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990600" y="3886200"/>
            <a:ext cx="7391400" cy="2514600"/>
          </a:xfrm>
        </p:spPr>
        <p:txBody>
          <a:bodyPr>
            <a:normAutofit fontScale="47500" lnSpcReduction="20000"/>
          </a:bodyPr>
          <a:lstStyle/>
          <a:p>
            <a:r>
              <a:rPr lang="en-US" sz="6600" b="1" dirty="0">
                <a:solidFill>
                  <a:srgbClr val="251B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Sunil </a:t>
            </a:r>
            <a:r>
              <a:rPr lang="en-US" sz="6600" b="1" dirty="0" err="1">
                <a:solidFill>
                  <a:srgbClr val="251B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Nadella</a:t>
            </a:r>
            <a:r>
              <a:rPr lang="en-US" sz="6600" b="1" dirty="0">
                <a:solidFill>
                  <a:srgbClr val="251B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r"/>
            <a:r>
              <a:rPr lang="en-US" sz="4000" b="1" dirty="0" err="1">
                <a:solidFill>
                  <a:srgbClr val="251B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M.Sc.,M.Tech</a:t>
            </a:r>
            <a:r>
              <a:rPr lang="en-US" sz="4000" b="1" dirty="0">
                <a:solidFill>
                  <a:srgbClr val="251B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., </a:t>
            </a:r>
            <a:r>
              <a:rPr lang="en-US" sz="4000" b="1" dirty="0" err="1">
                <a:solidFill>
                  <a:srgbClr val="251B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M.Phil.,PGDCS</a:t>
            </a:r>
            <a:r>
              <a:rPr lang="en-US" sz="4000" b="1" dirty="0">
                <a:solidFill>
                  <a:srgbClr val="251B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.,(</a:t>
            </a:r>
            <a:r>
              <a:rPr lang="en-US" sz="4000" b="1" dirty="0" err="1">
                <a:solidFill>
                  <a:srgbClr val="251B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Ph.D</a:t>
            </a:r>
            <a:r>
              <a:rPr lang="en-US" sz="4000" b="1" dirty="0">
                <a:solidFill>
                  <a:srgbClr val="251B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sz="4000" b="1" dirty="0">
                <a:solidFill>
                  <a:srgbClr val="251B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Director &amp; HOD</a:t>
            </a:r>
          </a:p>
          <a:p>
            <a:r>
              <a:rPr lang="en-US" sz="4000" b="1" dirty="0">
                <a:solidFill>
                  <a:srgbClr val="251B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Associate Professor</a:t>
            </a:r>
          </a:p>
          <a:p>
            <a:r>
              <a:rPr lang="en-US" sz="4000" b="1" dirty="0">
                <a:solidFill>
                  <a:srgbClr val="251B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PG Department Of Computer Science</a:t>
            </a:r>
          </a:p>
          <a:p>
            <a:r>
              <a:rPr lang="en-US" sz="4000" b="1" dirty="0">
                <a:solidFill>
                  <a:srgbClr val="251B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Ideal College Of Arts &amp; Sciences</a:t>
            </a:r>
          </a:p>
          <a:p>
            <a:r>
              <a:rPr lang="en-US" sz="4000" b="1" dirty="0">
                <a:solidFill>
                  <a:srgbClr val="251B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Kakinada</a:t>
            </a:r>
          </a:p>
          <a:p>
            <a:r>
              <a:rPr lang="en-US" sz="4000" b="1" dirty="0">
                <a:solidFill>
                  <a:srgbClr val="251B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http://sunilnadella.googlepages.com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Data Types in 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4AA8-0EA0-4FE5-9C54-C36235493C1D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09600" y="1066800"/>
            <a:ext cx="7696200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There are numerous data types in R that store various kinds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data.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The four main types of data most likely to be used are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Numeric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Character (String)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Date / </a:t>
            </a:r>
            <a:r>
              <a:rPr lang="en-US" sz="2000" dirty="0" err="1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POSIXct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(time-based)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Logical(TRUE / FALSE)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The type of the data contained in a variable is checked with 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class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function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x </a:t>
            </a:r>
          </a:p>
          <a:p>
            <a:r>
              <a:rPr lang="en-US" sz="2000" dirty="0"/>
              <a:t>	[1] 23 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class(x) </a:t>
            </a:r>
          </a:p>
          <a:p>
            <a:r>
              <a:rPr lang="en-US" sz="2000" dirty="0"/>
              <a:t>	[1] "numeric“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 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Data Types in R-Numeric Data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4AA8-0EA0-4FE5-9C54-C36235493C1D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28600" y="990600"/>
            <a:ext cx="868680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NUMERIC DATA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Since R excels in running numbers, so numeric data is the most common type in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RThe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most commonly used numeric data is 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numeric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This 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numeric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is similar to a 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float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or 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double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in other languages. It handles integers and decimals, both positive and negative and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zero.A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numeric value stored in a variable is automatically assumed to be numeric.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To test whether a variable in numeric is done with function </a:t>
            </a:r>
            <a:r>
              <a:rPr lang="en-U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is.numeric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</a:t>
            </a:r>
            <a:r>
              <a:rPr lang="en-US" sz="2000" dirty="0" err="1">
                <a:solidFill>
                  <a:srgbClr val="251BED"/>
                </a:solidFill>
              </a:rPr>
              <a:t>is.numeric</a:t>
            </a:r>
            <a:r>
              <a:rPr lang="en-US" sz="2000" dirty="0">
                <a:solidFill>
                  <a:srgbClr val="251BED"/>
                </a:solidFill>
              </a:rPr>
              <a:t>(x)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	[1] TRUE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 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Data Types in R-Numeric Data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4AA8-0EA0-4FE5-9C54-C36235493C1D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28600" y="990600"/>
            <a:ext cx="86868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NUMERIC DATA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Another important, less frequently used type is 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integer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As the name implies is for whole numbers only, no decimals. 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u="sng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To set an integer to  a variable it is necessary to append the value with </a:t>
            </a:r>
            <a:r>
              <a:rPr lang="en-US" sz="2000" b="1" u="sng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</a:t>
            </a:r>
            <a:r>
              <a:rPr lang="en-US" sz="2000" u="sng" dirty="0">
                <a:latin typeface="Arial" pitchFamily="34" charset="0"/>
                <a:cs typeface="Arial" pitchFamily="34" charset="0"/>
              </a:rPr>
              <a:t>.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As with checking for numeric, the </a:t>
            </a:r>
            <a:r>
              <a:rPr lang="en-U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is.integer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function is used.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Is a variable is an integer it also pass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numetic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test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R simply promotes integers to numeric when used. This is obvious when multiplying an integer by numeric, but importantly it works when dividing an integer by another integer, resulting a decimal number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Data Types in R-Numeric Data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4AA8-0EA0-4FE5-9C54-C36235493C1D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28600" y="1219200"/>
            <a:ext cx="876300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	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&gt; </a:t>
            </a:r>
            <a:r>
              <a:rPr lang="en-US" sz="2000" dirty="0" err="1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&lt;-5L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&gt; </a:t>
            </a:r>
            <a:r>
              <a:rPr lang="en-US" sz="2000" dirty="0" err="1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	[1] 5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	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&gt; </a:t>
            </a:r>
            <a:r>
              <a:rPr lang="en-US" sz="2000" dirty="0" err="1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is.integer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2000" dirty="0" err="1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	 [1] TRUE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	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&gt; </a:t>
            </a:r>
            <a:r>
              <a:rPr lang="en-US" sz="2000" dirty="0" err="1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is.numeric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2000" dirty="0" err="1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	[1] TRUE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	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&gt; class(4L)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	[1] "integer"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	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&gt; class(2.8)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	[1] "numeric"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Data Types in R-Numeric Data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4AA8-0EA0-4FE5-9C54-C36235493C1D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28600" y="1295400"/>
            <a:ext cx="87630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		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&gt; 4L*2.8 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	[1] 11.2 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	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&gt; class(4L*2.8) 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	[1] "numeric" 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	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&gt; class(5L)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	 [1] "integer" 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	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&gt; class(2L) 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	[1] "integer" 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	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&gt; 5L/2L 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	[1] 2.5 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	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&gt; class(5L/2L) 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	[1] "numeric" 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	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&gt; 4L/2L 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	[1] 2 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	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&gt; class(4L/2L) 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	[1] "numeric" 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	&gt;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Data Types in R- Character Data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4AA8-0EA0-4FE5-9C54-C36235493C1D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33400" y="1447800"/>
            <a:ext cx="769620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CHARACTER DATA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even though it is not explicitly mathematical, the character (string) data type is very common in statistical analysis and must be handled with care.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R has two primary ways of handling character data: 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character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and 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factor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Both 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character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and 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factor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may seem similar on the surface they are treated quite differently.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To find number of character in 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character (string)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data using </a:t>
            </a:r>
            <a:r>
              <a:rPr lang="en-U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nchar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function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nchar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function won’t work on 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factor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Data Types in R- Character Data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4AA8-0EA0-4FE5-9C54-C36235493C1D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09600" y="917912"/>
            <a:ext cx="76962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x&lt;-"data" </a:t>
            </a:r>
          </a:p>
          <a:p>
            <a:r>
              <a:rPr lang="en-US" sz="2000" dirty="0">
                <a:solidFill>
                  <a:srgbClr val="251BED"/>
                </a:solidFill>
              </a:rPr>
              <a:t>	&gt; x </a:t>
            </a:r>
          </a:p>
          <a:p>
            <a:r>
              <a:rPr lang="en-US" sz="2000" dirty="0"/>
              <a:t>	[1] "data" 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y&lt;-factor("data") </a:t>
            </a:r>
          </a:p>
          <a:p>
            <a:r>
              <a:rPr lang="en-US" sz="2000" dirty="0">
                <a:solidFill>
                  <a:srgbClr val="251BED"/>
                </a:solidFill>
              </a:rPr>
              <a:t>	&gt; y </a:t>
            </a:r>
          </a:p>
          <a:p>
            <a:r>
              <a:rPr lang="en-US" sz="2000" dirty="0"/>
              <a:t>	[1] data </a:t>
            </a:r>
          </a:p>
          <a:p>
            <a:r>
              <a:rPr lang="en-US" sz="2000" dirty="0"/>
              <a:t>	Levels: data 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</a:t>
            </a:r>
            <a:r>
              <a:rPr lang="en-US" sz="2000" dirty="0" err="1">
                <a:solidFill>
                  <a:srgbClr val="251BED"/>
                </a:solidFill>
              </a:rPr>
              <a:t>nchar</a:t>
            </a:r>
            <a:r>
              <a:rPr lang="en-US" sz="2000" dirty="0">
                <a:solidFill>
                  <a:srgbClr val="251BED"/>
                </a:solidFill>
              </a:rPr>
              <a:t>(x) </a:t>
            </a:r>
          </a:p>
          <a:p>
            <a:r>
              <a:rPr lang="en-US" sz="2000" dirty="0"/>
              <a:t>	[1] 4 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</a:t>
            </a:r>
            <a:r>
              <a:rPr lang="en-US" sz="2000" dirty="0" err="1">
                <a:solidFill>
                  <a:srgbClr val="251BED"/>
                </a:solidFill>
              </a:rPr>
              <a:t>nchar</a:t>
            </a:r>
            <a:r>
              <a:rPr lang="en-US" sz="2000" dirty="0">
                <a:solidFill>
                  <a:srgbClr val="251BED"/>
                </a:solidFill>
              </a:rPr>
              <a:t>("</a:t>
            </a:r>
            <a:r>
              <a:rPr lang="en-US" sz="2000" dirty="0" err="1">
                <a:solidFill>
                  <a:srgbClr val="251BED"/>
                </a:solidFill>
              </a:rPr>
              <a:t>sunil</a:t>
            </a:r>
            <a:r>
              <a:rPr lang="en-US" sz="2000" dirty="0">
                <a:solidFill>
                  <a:srgbClr val="251BED"/>
                </a:solidFill>
              </a:rPr>
              <a:t>") </a:t>
            </a:r>
          </a:p>
          <a:p>
            <a:r>
              <a:rPr lang="en-US" sz="2000" dirty="0"/>
              <a:t>	[1] 5 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</a:t>
            </a:r>
            <a:r>
              <a:rPr lang="en-US" sz="2000" dirty="0" err="1">
                <a:solidFill>
                  <a:srgbClr val="251BED"/>
                </a:solidFill>
              </a:rPr>
              <a:t>nchar</a:t>
            </a:r>
            <a:r>
              <a:rPr lang="en-US" sz="2000" dirty="0">
                <a:solidFill>
                  <a:srgbClr val="251BED"/>
                </a:solidFill>
              </a:rPr>
              <a:t>(3) </a:t>
            </a:r>
          </a:p>
          <a:p>
            <a:r>
              <a:rPr lang="en-US" sz="2000" dirty="0"/>
              <a:t>	[1] 1 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</a:t>
            </a:r>
            <a:r>
              <a:rPr lang="en-US" sz="2000" dirty="0" err="1">
                <a:solidFill>
                  <a:srgbClr val="251BED"/>
                </a:solidFill>
              </a:rPr>
              <a:t>nchar</a:t>
            </a:r>
            <a:r>
              <a:rPr lang="en-US" sz="2000" dirty="0">
                <a:solidFill>
                  <a:srgbClr val="251BED"/>
                </a:solidFill>
              </a:rPr>
              <a:t>(452)</a:t>
            </a:r>
            <a:r>
              <a:rPr lang="en-US" sz="2000" dirty="0"/>
              <a:t> </a:t>
            </a:r>
          </a:p>
          <a:p>
            <a:r>
              <a:rPr lang="en-US" sz="2000" dirty="0"/>
              <a:t>	[1] 3 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</a:t>
            </a:r>
            <a:r>
              <a:rPr lang="en-US" sz="2000" dirty="0" err="1">
                <a:solidFill>
                  <a:srgbClr val="251BED"/>
                </a:solidFill>
              </a:rPr>
              <a:t>nchar</a:t>
            </a:r>
            <a:r>
              <a:rPr lang="en-US" sz="2000" dirty="0">
                <a:solidFill>
                  <a:srgbClr val="251BED"/>
                </a:solidFill>
              </a:rPr>
              <a:t>(y) 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FF0000"/>
                </a:solidFill>
              </a:rPr>
              <a:t>Error in </a:t>
            </a:r>
            <a:r>
              <a:rPr lang="en-US" sz="2000" dirty="0" err="1">
                <a:solidFill>
                  <a:srgbClr val="FF0000"/>
                </a:solidFill>
              </a:rPr>
              <a:t>nchar</a:t>
            </a:r>
            <a:r>
              <a:rPr lang="en-US" sz="2000" dirty="0">
                <a:solidFill>
                  <a:srgbClr val="FF0000"/>
                </a:solidFill>
              </a:rPr>
              <a:t>(y) : '</a:t>
            </a:r>
            <a:r>
              <a:rPr lang="en-US" sz="2000" dirty="0" err="1">
                <a:solidFill>
                  <a:srgbClr val="FF0000"/>
                </a:solidFill>
              </a:rPr>
              <a:t>nchar</a:t>
            </a:r>
            <a:r>
              <a:rPr lang="en-US" sz="2000" dirty="0">
                <a:solidFill>
                  <a:srgbClr val="FF0000"/>
                </a:solidFill>
              </a:rPr>
              <a:t>()' requires a character vector</a:t>
            </a:r>
          </a:p>
          <a:p>
            <a:r>
              <a:rPr lang="en-US" sz="2000" dirty="0"/>
              <a:t>	 &gt;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Data Types in R - Dates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4AA8-0EA0-4FE5-9C54-C36235493C1D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33400" y="1676400"/>
            <a:ext cx="76962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DATES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dealing with dates and times can be difficulty in any language and to further complicate matters r has numerous different types of dates.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The most useful are 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Date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and </a:t>
            </a:r>
            <a:r>
              <a:rPr lang="en-US" sz="2000" dirty="0" err="1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POSIXct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Date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stores just a date while </a:t>
            </a:r>
            <a:r>
              <a:rPr lang="en-US" sz="2000" dirty="0" err="1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POSIXct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stores a date and time.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Both objects are actually represented as the number of days (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Date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) or seconds(</a:t>
            </a:r>
            <a:r>
              <a:rPr lang="en-US" sz="2000" dirty="0" err="1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POSIXct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) since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january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1, 1970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Data Types in R - Dates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4AA8-0EA0-4FE5-9C54-C36235493C1D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09600" y="917912"/>
            <a:ext cx="76962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date&lt;-</a:t>
            </a:r>
            <a:r>
              <a:rPr lang="en-US" sz="2000" dirty="0" err="1">
                <a:solidFill>
                  <a:srgbClr val="251BED"/>
                </a:solidFill>
              </a:rPr>
              <a:t>as.Date</a:t>
            </a:r>
            <a:r>
              <a:rPr lang="en-US" sz="2000" dirty="0">
                <a:solidFill>
                  <a:srgbClr val="251BED"/>
                </a:solidFill>
              </a:rPr>
              <a:t>("2017-07-26") </a:t>
            </a:r>
          </a:p>
          <a:p>
            <a:r>
              <a:rPr lang="en-US" sz="2000" dirty="0">
                <a:solidFill>
                  <a:srgbClr val="251BED"/>
                </a:solidFill>
              </a:rPr>
              <a:t>	&gt; date </a:t>
            </a:r>
          </a:p>
          <a:p>
            <a:r>
              <a:rPr lang="en-US" sz="2000" dirty="0"/>
              <a:t>	[1] "2017-07-26" 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class(data) </a:t>
            </a:r>
          </a:p>
          <a:p>
            <a:r>
              <a:rPr lang="en-US" sz="2000" dirty="0"/>
              <a:t>	[1] "function" 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class(date) </a:t>
            </a:r>
          </a:p>
          <a:p>
            <a:r>
              <a:rPr lang="en-US" sz="2000" dirty="0"/>
              <a:t>	[1] "Date" 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</a:t>
            </a:r>
            <a:r>
              <a:rPr lang="en-US" sz="2000" dirty="0" err="1">
                <a:solidFill>
                  <a:srgbClr val="251BED"/>
                </a:solidFill>
              </a:rPr>
              <a:t>as.numeric</a:t>
            </a:r>
            <a:r>
              <a:rPr lang="en-US" sz="2000" dirty="0">
                <a:solidFill>
                  <a:srgbClr val="251BED"/>
                </a:solidFill>
              </a:rPr>
              <a:t>(date) </a:t>
            </a:r>
          </a:p>
          <a:p>
            <a:r>
              <a:rPr lang="en-US" sz="2000" dirty="0"/>
              <a:t>	[1] 17373 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date1&lt;-</a:t>
            </a:r>
            <a:r>
              <a:rPr lang="en-US" sz="2000" dirty="0" err="1">
                <a:solidFill>
                  <a:srgbClr val="251BED"/>
                </a:solidFill>
              </a:rPr>
              <a:t>as.POSIXct</a:t>
            </a:r>
            <a:r>
              <a:rPr lang="en-US" sz="2000" dirty="0">
                <a:solidFill>
                  <a:srgbClr val="251BED"/>
                </a:solidFill>
              </a:rPr>
              <a:t>("2017-07-26 07:45") </a:t>
            </a:r>
          </a:p>
          <a:p>
            <a:r>
              <a:rPr lang="en-US" sz="2000" dirty="0">
                <a:solidFill>
                  <a:srgbClr val="251BED"/>
                </a:solidFill>
              </a:rPr>
              <a:t>	&gt; date1 </a:t>
            </a:r>
          </a:p>
          <a:p>
            <a:r>
              <a:rPr lang="en-US" sz="2000" dirty="0"/>
              <a:t>	[1] "2017-07-26 07:45:00 PDT" 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class(date1) </a:t>
            </a:r>
          </a:p>
          <a:p>
            <a:r>
              <a:rPr lang="en-US" sz="2000" dirty="0"/>
              <a:t>	[1] "</a:t>
            </a:r>
            <a:r>
              <a:rPr lang="en-US" sz="2000" dirty="0" err="1"/>
              <a:t>POSIXct</a:t>
            </a:r>
            <a:r>
              <a:rPr lang="en-US" sz="2000" dirty="0"/>
              <a:t>" "</a:t>
            </a:r>
            <a:r>
              <a:rPr lang="en-US" sz="2000" dirty="0" err="1"/>
              <a:t>POSIXt</a:t>
            </a:r>
            <a:r>
              <a:rPr lang="en-US" sz="2000" dirty="0"/>
              <a:t>" 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</a:t>
            </a:r>
            <a:r>
              <a:rPr lang="en-US" sz="2000" dirty="0" err="1">
                <a:solidFill>
                  <a:srgbClr val="251BED"/>
                </a:solidFill>
              </a:rPr>
              <a:t>as.numeric</a:t>
            </a:r>
            <a:r>
              <a:rPr lang="en-US" sz="2000" dirty="0">
                <a:solidFill>
                  <a:srgbClr val="251BED"/>
                </a:solidFill>
              </a:rPr>
              <a:t>(date1) </a:t>
            </a:r>
          </a:p>
          <a:p>
            <a:r>
              <a:rPr lang="en-US" sz="2000" dirty="0"/>
              <a:t>	[1] 1501080300 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class(</a:t>
            </a:r>
            <a:r>
              <a:rPr lang="en-US" sz="2000" dirty="0" err="1">
                <a:solidFill>
                  <a:srgbClr val="251BED"/>
                </a:solidFill>
              </a:rPr>
              <a:t>as.numeric</a:t>
            </a:r>
            <a:r>
              <a:rPr lang="en-US" sz="2000" dirty="0">
                <a:solidFill>
                  <a:srgbClr val="251BED"/>
                </a:solidFill>
              </a:rPr>
              <a:t>(date)) </a:t>
            </a:r>
          </a:p>
          <a:p>
            <a:r>
              <a:rPr lang="en-US" sz="2000" dirty="0"/>
              <a:t>	[1] "numeric" 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Data Types in R - Dates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4AA8-0EA0-4FE5-9C54-C36235493C1D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33400" y="1371600"/>
            <a:ext cx="82296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LOGICAL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sz="2000" dirty="0" err="1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logicals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are a way of representing data that can be either 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TRUE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or 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FALSE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Numerically 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TRUE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is the same as 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and 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FALSE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is the same as 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da-DK" sz="2000" dirty="0"/>
              <a:t>	</a:t>
            </a:r>
            <a:r>
              <a:rPr lang="da-DK" sz="2000" dirty="0">
                <a:solidFill>
                  <a:srgbClr val="251BED"/>
                </a:solidFill>
              </a:rPr>
              <a:t>&gt; TRUE*5 </a:t>
            </a:r>
          </a:p>
          <a:p>
            <a:pPr>
              <a:lnSpc>
                <a:spcPct val="150000"/>
              </a:lnSpc>
            </a:pPr>
            <a:r>
              <a:rPr lang="da-DK" sz="2000" dirty="0"/>
              <a:t>	[1] 5 </a:t>
            </a:r>
          </a:p>
          <a:p>
            <a:pPr>
              <a:lnSpc>
                <a:spcPct val="150000"/>
              </a:lnSpc>
            </a:pPr>
            <a:r>
              <a:rPr lang="da-DK" sz="2000" dirty="0"/>
              <a:t>	</a:t>
            </a:r>
            <a:r>
              <a:rPr lang="da-DK" sz="2000" dirty="0">
                <a:solidFill>
                  <a:srgbClr val="251BED"/>
                </a:solidFill>
              </a:rPr>
              <a:t>&gt; FALSE*5 </a:t>
            </a:r>
          </a:p>
          <a:p>
            <a:pPr>
              <a:lnSpc>
                <a:spcPct val="150000"/>
              </a:lnSpc>
            </a:pPr>
            <a:r>
              <a:rPr lang="da-DK" sz="2000" dirty="0"/>
              <a:t>	[1] 0</a:t>
            </a:r>
          </a:p>
          <a:p>
            <a:pPr>
              <a:lnSpc>
                <a:spcPct val="150000"/>
              </a:lnSpc>
            </a:pPr>
            <a:r>
              <a:rPr lang="da-DK" sz="2000" dirty="0"/>
              <a:t>	&gt;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33400" y="-18288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Data Types in R - Dates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4AA8-0EA0-4FE5-9C54-C36235493C1D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33400" y="302359"/>
            <a:ext cx="82296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x&lt;-TRUE </a:t>
            </a:r>
          </a:p>
          <a:p>
            <a:pPr fontAlgn="t"/>
            <a:r>
              <a:rPr lang="en-US" sz="2000" dirty="0">
                <a:solidFill>
                  <a:srgbClr val="251BED"/>
                </a:solidFill>
              </a:rPr>
              <a:t>	&gt; class(x) </a:t>
            </a:r>
          </a:p>
          <a:p>
            <a:pPr fontAlgn="t"/>
            <a:r>
              <a:rPr lang="en-US" sz="2000" dirty="0"/>
              <a:t>	[1] "logical" 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</a:t>
            </a:r>
            <a:r>
              <a:rPr lang="en-US" sz="2000" dirty="0" err="1">
                <a:solidFill>
                  <a:srgbClr val="251BED"/>
                </a:solidFill>
              </a:rPr>
              <a:t>is.logical</a:t>
            </a:r>
            <a:r>
              <a:rPr lang="en-US" sz="2000" dirty="0">
                <a:solidFill>
                  <a:srgbClr val="251BED"/>
                </a:solidFill>
              </a:rPr>
              <a:t>(x) </a:t>
            </a:r>
          </a:p>
          <a:p>
            <a:pPr fontAlgn="t"/>
            <a:r>
              <a:rPr lang="en-US" sz="2000" dirty="0"/>
              <a:t>	[1] TRUE 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TRUE </a:t>
            </a:r>
          </a:p>
          <a:p>
            <a:pPr fontAlgn="t"/>
            <a:r>
              <a:rPr lang="en-US" sz="2000" dirty="0"/>
              <a:t>	[1] TRUE 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T </a:t>
            </a:r>
          </a:p>
          <a:p>
            <a:pPr fontAlgn="t"/>
            <a:r>
              <a:rPr lang="en-US" sz="2000" dirty="0"/>
              <a:t>	[1] TRUE 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class(T) </a:t>
            </a:r>
          </a:p>
          <a:p>
            <a:pPr fontAlgn="t"/>
            <a:r>
              <a:rPr lang="en-US" sz="2000" dirty="0"/>
              <a:t>	[1] "logical" 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F </a:t>
            </a:r>
          </a:p>
          <a:p>
            <a:pPr fontAlgn="t"/>
            <a:r>
              <a:rPr lang="en-US" sz="2000" dirty="0"/>
              <a:t>	[1] FALSE 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class(F) </a:t>
            </a:r>
          </a:p>
          <a:p>
            <a:pPr fontAlgn="t"/>
            <a:r>
              <a:rPr lang="en-US" sz="2000" dirty="0"/>
              <a:t>	[1] "logical" 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T&lt;-7 </a:t>
            </a:r>
          </a:p>
          <a:p>
            <a:pPr fontAlgn="t"/>
            <a:r>
              <a:rPr lang="en-US" sz="2000" dirty="0">
                <a:solidFill>
                  <a:srgbClr val="251BED"/>
                </a:solidFill>
              </a:rPr>
              <a:t>	&gt; T </a:t>
            </a:r>
          </a:p>
          <a:p>
            <a:pPr fontAlgn="t"/>
            <a:r>
              <a:rPr lang="en-US" sz="2000" dirty="0"/>
              <a:t>	[1] 7 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class(T) </a:t>
            </a:r>
          </a:p>
          <a:p>
            <a:pPr fontAlgn="t"/>
            <a:r>
              <a:rPr lang="en-US" sz="2000" dirty="0"/>
              <a:t>	[1] "numeric“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 &gt;</a:t>
            </a:r>
            <a:r>
              <a:rPr lang="en-US" sz="2000" dirty="0"/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33400" y="-18288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Data Types in R - Dates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4AA8-0EA0-4FE5-9C54-C36235493C1D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" y="1295400"/>
            <a:ext cx="82296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#does 2 equal 3 </a:t>
            </a:r>
          </a:p>
          <a:p>
            <a:pPr fontAlgn="t"/>
            <a:r>
              <a:rPr lang="en-US" sz="2000" dirty="0">
                <a:solidFill>
                  <a:srgbClr val="251BED"/>
                </a:solidFill>
              </a:rPr>
              <a:t>	&gt; 2 == 3 </a:t>
            </a:r>
          </a:p>
          <a:p>
            <a:pPr fontAlgn="t"/>
            <a:r>
              <a:rPr lang="en-US" sz="2000" dirty="0"/>
              <a:t>	[1] FALSE 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#does 2 not equals 3 </a:t>
            </a:r>
          </a:p>
          <a:p>
            <a:pPr fontAlgn="t"/>
            <a:r>
              <a:rPr lang="en-US" sz="2000" dirty="0">
                <a:solidFill>
                  <a:srgbClr val="251BED"/>
                </a:solidFill>
              </a:rPr>
              <a:t>	&gt; 2!=3 </a:t>
            </a:r>
          </a:p>
          <a:p>
            <a:pPr fontAlgn="t"/>
            <a:r>
              <a:rPr lang="en-US" sz="2000" dirty="0"/>
              <a:t>	[1] TRUE 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#is 2 less than 3 </a:t>
            </a:r>
          </a:p>
          <a:p>
            <a:pPr fontAlgn="t"/>
            <a:r>
              <a:rPr lang="en-US" sz="2000" dirty="0">
                <a:solidFill>
                  <a:srgbClr val="251BED"/>
                </a:solidFill>
              </a:rPr>
              <a:t>	&gt; 2&lt;3 </a:t>
            </a:r>
          </a:p>
          <a:p>
            <a:pPr fontAlgn="t"/>
            <a:r>
              <a:rPr lang="en-US" sz="2000" dirty="0"/>
              <a:t>	[1] TRUE 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#is 2 less than or equal to three </a:t>
            </a:r>
          </a:p>
          <a:p>
            <a:pPr fontAlgn="t"/>
            <a:r>
              <a:rPr lang="en-US" sz="2000" dirty="0">
                <a:solidFill>
                  <a:srgbClr val="251BED"/>
                </a:solidFill>
              </a:rPr>
              <a:t>	&gt; 2&lt;=3 </a:t>
            </a:r>
          </a:p>
          <a:p>
            <a:pPr fontAlgn="t"/>
            <a:r>
              <a:rPr lang="en-US" sz="2000" dirty="0"/>
              <a:t>	[1] TRUE </a:t>
            </a:r>
          </a:p>
          <a:p>
            <a:pPr fontAlgn="t"/>
            <a:r>
              <a:rPr lang="en-US" sz="2000" dirty="0"/>
              <a:t>	</a:t>
            </a:r>
          </a:p>
          <a:p>
            <a:pPr fontAlgn="t"/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33400" y="-18288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Data Types in R - Dates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D4AA8-0EA0-4FE5-9C54-C36235493C1D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" y="1295400"/>
            <a:ext cx="82296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#is 2 greater than 3 </a:t>
            </a:r>
          </a:p>
          <a:p>
            <a:pPr fontAlgn="t"/>
            <a:r>
              <a:rPr lang="en-US" sz="2000" dirty="0">
                <a:solidFill>
                  <a:srgbClr val="251BED"/>
                </a:solidFill>
              </a:rPr>
              <a:t>	&gt; 2&gt;3 </a:t>
            </a:r>
          </a:p>
          <a:p>
            <a:pPr fontAlgn="t"/>
            <a:r>
              <a:rPr lang="en-US" sz="2000" dirty="0"/>
              <a:t>	[1] FALSE 	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#is 2 greater than or equal to three </a:t>
            </a:r>
          </a:p>
          <a:p>
            <a:pPr fontAlgn="t"/>
            <a:r>
              <a:rPr lang="en-US" sz="2000" dirty="0">
                <a:solidFill>
                  <a:srgbClr val="251BED"/>
                </a:solidFill>
              </a:rPr>
              <a:t>	&gt; 2&gt;=3 </a:t>
            </a:r>
          </a:p>
          <a:p>
            <a:pPr fontAlgn="t"/>
            <a:r>
              <a:rPr lang="en-US" sz="2000" dirty="0"/>
              <a:t>	[1] FALSE 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#is '</a:t>
            </a:r>
            <a:r>
              <a:rPr lang="en-US" sz="2000" dirty="0" err="1">
                <a:solidFill>
                  <a:srgbClr val="251BED"/>
                </a:solidFill>
              </a:rPr>
              <a:t>sunil</a:t>
            </a:r>
            <a:r>
              <a:rPr lang="en-US" sz="2000" dirty="0">
                <a:solidFill>
                  <a:srgbClr val="251BED"/>
                </a:solidFill>
              </a:rPr>
              <a:t>' </a:t>
            </a:r>
            <a:r>
              <a:rPr lang="en-US" sz="2000" dirty="0" err="1">
                <a:solidFill>
                  <a:srgbClr val="251BED"/>
                </a:solidFill>
              </a:rPr>
              <a:t>equali</a:t>
            </a:r>
            <a:r>
              <a:rPr lang="en-US" sz="2000" dirty="0">
                <a:solidFill>
                  <a:srgbClr val="251BED"/>
                </a:solidFill>
              </a:rPr>
              <a:t> to '</a:t>
            </a:r>
            <a:r>
              <a:rPr lang="en-US" sz="2000" dirty="0" err="1">
                <a:solidFill>
                  <a:srgbClr val="251BED"/>
                </a:solidFill>
              </a:rPr>
              <a:t>valli</a:t>
            </a:r>
            <a:r>
              <a:rPr lang="en-US" sz="2000" dirty="0">
                <a:solidFill>
                  <a:srgbClr val="251BED"/>
                </a:solidFill>
              </a:rPr>
              <a:t>' </a:t>
            </a:r>
          </a:p>
          <a:p>
            <a:pPr fontAlgn="t"/>
            <a:r>
              <a:rPr lang="en-US" sz="2000" dirty="0">
                <a:solidFill>
                  <a:srgbClr val="251BED"/>
                </a:solidFill>
              </a:rPr>
              <a:t>	&gt; "</a:t>
            </a:r>
            <a:r>
              <a:rPr lang="en-US" sz="2000" dirty="0" err="1">
                <a:solidFill>
                  <a:srgbClr val="251BED"/>
                </a:solidFill>
              </a:rPr>
              <a:t>sunil</a:t>
            </a:r>
            <a:r>
              <a:rPr lang="en-US" sz="2000" dirty="0">
                <a:solidFill>
                  <a:srgbClr val="251BED"/>
                </a:solidFill>
              </a:rPr>
              <a:t>" == "</a:t>
            </a:r>
            <a:r>
              <a:rPr lang="en-US" sz="2000" dirty="0" err="1">
                <a:solidFill>
                  <a:srgbClr val="251BED"/>
                </a:solidFill>
              </a:rPr>
              <a:t>valli</a:t>
            </a:r>
            <a:r>
              <a:rPr lang="en-US" sz="2000" dirty="0">
                <a:solidFill>
                  <a:srgbClr val="251BED"/>
                </a:solidFill>
              </a:rPr>
              <a:t>" </a:t>
            </a:r>
          </a:p>
          <a:p>
            <a:pPr fontAlgn="t"/>
            <a:r>
              <a:rPr lang="en-US" sz="2000" dirty="0"/>
              <a:t>	[1] FALSE </a:t>
            </a:r>
          </a:p>
          <a:p>
            <a:pPr fontAlgn="t"/>
            <a:r>
              <a:rPr lang="en-US" sz="2000" dirty="0"/>
              <a:t>	 </a:t>
            </a:r>
            <a:r>
              <a:rPr lang="en-US" sz="2000" dirty="0">
                <a:solidFill>
                  <a:srgbClr val="251BED"/>
                </a:solidFill>
              </a:rPr>
              <a:t>&gt; #is '</a:t>
            </a:r>
            <a:r>
              <a:rPr lang="en-US" sz="2000" dirty="0" err="1">
                <a:solidFill>
                  <a:srgbClr val="251BED"/>
                </a:solidFill>
              </a:rPr>
              <a:t>sunil</a:t>
            </a:r>
            <a:r>
              <a:rPr lang="en-US" sz="2000" dirty="0">
                <a:solidFill>
                  <a:srgbClr val="251BED"/>
                </a:solidFill>
              </a:rPr>
              <a:t>' less than '</a:t>
            </a:r>
            <a:r>
              <a:rPr lang="en-US" sz="2000" dirty="0" err="1">
                <a:solidFill>
                  <a:srgbClr val="251BED"/>
                </a:solidFill>
              </a:rPr>
              <a:t>valli</a:t>
            </a:r>
            <a:r>
              <a:rPr lang="en-US" sz="2000" dirty="0">
                <a:solidFill>
                  <a:srgbClr val="251BED"/>
                </a:solidFill>
              </a:rPr>
              <a:t>' </a:t>
            </a:r>
          </a:p>
          <a:p>
            <a:pPr fontAlgn="t"/>
            <a:r>
              <a:rPr lang="en-US" sz="2000" dirty="0">
                <a:solidFill>
                  <a:srgbClr val="251BED"/>
                </a:solidFill>
              </a:rPr>
              <a:t>	&gt; "</a:t>
            </a:r>
            <a:r>
              <a:rPr lang="en-US" sz="2000" dirty="0" err="1">
                <a:solidFill>
                  <a:srgbClr val="251BED"/>
                </a:solidFill>
              </a:rPr>
              <a:t>sunil</a:t>
            </a:r>
            <a:r>
              <a:rPr lang="en-US" sz="2000" dirty="0">
                <a:solidFill>
                  <a:srgbClr val="251BED"/>
                </a:solidFill>
              </a:rPr>
              <a:t>"&lt;"</a:t>
            </a:r>
            <a:r>
              <a:rPr lang="en-US" sz="2000" dirty="0" err="1">
                <a:solidFill>
                  <a:srgbClr val="251BED"/>
                </a:solidFill>
              </a:rPr>
              <a:t>valli</a:t>
            </a:r>
            <a:r>
              <a:rPr lang="en-US" sz="2000" dirty="0">
                <a:solidFill>
                  <a:srgbClr val="251BED"/>
                </a:solidFill>
              </a:rPr>
              <a:t>" </a:t>
            </a:r>
          </a:p>
          <a:p>
            <a:pPr fontAlgn="t"/>
            <a:r>
              <a:rPr lang="en-US" sz="2000" dirty="0"/>
              <a:t>	[1] TRUE 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</a:t>
            </a:r>
          </a:p>
          <a:p>
            <a:pPr fontAlgn="t"/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VECTORS, MATRICES &amp; DATA FRAMES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A2B2F-2620-4688-9733-1AFA6D033BAB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04800" y="1676400"/>
            <a:ext cx="84582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buClr>
                <a:srgbClr val="251BED"/>
              </a:buClr>
              <a:buFont typeface="Wingdings" pitchFamily="2" charset="2"/>
              <a:buChar char="ü"/>
            </a:pP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is especially good at dealing with objects that are groups of numbers or groups of characters or logical data</a:t>
            </a:r>
          </a:p>
          <a:p>
            <a:pPr>
              <a:lnSpc>
                <a:spcPct val="200000"/>
              </a:lnSpc>
              <a:buClr>
                <a:srgbClr val="251BED"/>
              </a:buClr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In case of these groups can be originated as sequences which are called 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VECTORS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or as two dimensional tables of number, which are called 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MATRICES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lnSpc>
                <a:spcPct val="200000"/>
              </a:lnSpc>
              <a:buClr>
                <a:srgbClr val="251BED"/>
              </a:buClr>
              <a:buFont typeface="Wingdings" pitchFamily="2" charset="2"/>
              <a:buChar char="ü"/>
            </a:pP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can also deal with tables that have some columns of numbers and some columns with other kinds of data these are called 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DATA FRAMES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53E4DB-1CC9-41AC-82A8-5C81B938D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structures in 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8D96A62B-E0D1-4DC7-BC2D-30D7FAD8D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A6CD-DDBA-4B36-AA49-D7AD1BB64C24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E1FFB59-1645-4725-917A-3D5C7D9D7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443A581-53D1-4A05-84C3-51A78FB4F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AF9FDC9-60F8-4357-AE23-97D48AD13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07184"/>
            <a:ext cx="7086600" cy="504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21672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334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Declaring a Vector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A6CD-DDBA-4B36-AA49-D7AD1BB64C24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85800" y="1225689"/>
            <a:ext cx="7848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We declare a vector more than one way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First declare the name of the vector along with its length 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Then enter values in to the vector 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For example we want to create a vector y (23, 32) of length 2</a:t>
            </a:r>
          </a:p>
          <a:p>
            <a:pPr>
              <a:lnSpc>
                <a:spcPct val="150000"/>
              </a:lnSpc>
            </a:pPr>
            <a:r>
              <a:rPr lang="es-ES" sz="2000" dirty="0">
                <a:solidFill>
                  <a:srgbClr val="251BED"/>
                </a:solidFill>
              </a:rPr>
              <a:t>&gt; y&lt;-vector(</a:t>
            </a:r>
            <a:r>
              <a:rPr lang="es-ES" sz="2000" dirty="0" err="1">
                <a:solidFill>
                  <a:srgbClr val="251BED"/>
                </a:solidFill>
              </a:rPr>
              <a:t>length</a:t>
            </a:r>
            <a:r>
              <a:rPr lang="es-ES" sz="2000" dirty="0">
                <a:solidFill>
                  <a:srgbClr val="251BED"/>
                </a:solidFill>
              </a:rPr>
              <a:t>=2) </a:t>
            </a:r>
          </a:p>
          <a:p>
            <a:pPr>
              <a:lnSpc>
                <a:spcPct val="150000"/>
              </a:lnSpc>
            </a:pPr>
            <a:r>
              <a:rPr lang="es-ES" sz="2000" dirty="0">
                <a:solidFill>
                  <a:srgbClr val="251BED"/>
                </a:solidFill>
              </a:rPr>
              <a:t>&gt; y 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[1] FALSE </a:t>
            </a:r>
            <a:r>
              <a:rPr lang="es-ES" sz="2000" dirty="0" err="1"/>
              <a:t>FALSE</a:t>
            </a:r>
            <a:r>
              <a:rPr lang="es-ES" sz="2000" dirty="0"/>
              <a:t> </a:t>
            </a:r>
          </a:p>
          <a:p>
            <a:pPr>
              <a:lnSpc>
                <a:spcPct val="150000"/>
              </a:lnSpc>
            </a:pPr>
            <a:r>
              <a:rPr lang="es-ES" sz="2000" dirty="0">
                <a:solidFill>
                  <a:srgbClr val="251BED"/>
                </a:solidFill>
              </a:rPr>
              <a:t>&gt; y[1]&lt;-23 </a:t>
            </a:r>
          </a:p>
          <a:p>
            <a:pPr>
              <a:lnSpc>
                <a:spcPct val="150000"/>
              </a:lnSpc>
            </a:pPr>
            <a:r>
              <a:rPr lang="es-ES" sz="2000" dirty="0">
                <a:solidFill>
                  <a:srgbClr val="251BED"/>
                </a:solidFill>
              </a:rPr>
              <a:t>&gt; y[2]&lt;-32 </a:t>
            </a:r>
          </a:p>
          <a:p>
            <a:pPr>
              <a:lnSpc>
                <a:spcPct val="150000"/>
              </a:lnSpc>
            </a:pPr>
            <a:r>
              <a:rPr lang="es-ES" sz="2000" dirty="0">
                <a:solidFill>
                  <a:srgbClr val="251BED"/>
                </a:solidFill>
              </a:rPr>
              <a:t>&gt; y 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[1] 23 32 </a:t>
            </a:r>
          </a:p>
          <a:p>
            <a:pPr>
              <a:lnSpc>
                <a:spcPct val="150000"/>
              </a:lnSpc>
            </a:pPr>
            <a:r>
              <a:rPr lang="es-ES" sz="2000" dirty="0">
                <a:solidFill>
                  <a:srgbClr val="251BED"/>
                </a:solidFill>
              </a:rPr>
              <a:t>&gt;</a:t>
            </a:r>
            <a:r>
              <a:rPr lang="es-ES" sz="2000" dirty="0"/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334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Declaring a Vector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A6CD-DDBA-4B36-AA49-D7AD1BB64C24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09600" y="1752600"/>
            <a:ext cx="82296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Creating vector by 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CONCATENATE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or 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COMBINE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function 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c()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For example if we want to create a vector a vector y=(23, 32) of length 2 no need to declare and specify previously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s-ES" sz="2000" dirty="0">
                <a:solidFill>
                  <a:srgbClr val="251BED"/>
                </a:solidFill>
              </a:rPr>
              <a:t>&gt; y&lt;-c(23,32) </a:t>
            </a:r>
          </a:p>
          <a:p>
            <a:pPr>
              <a:lnSpc>
                <a:spcPct val="150000"/>
              </a:lnSpc>
            </a:pPr>
            <a:r>
              <a:rPr lang="es-ES" sz="2000" dirty="0">
                <a:solidFill>
                  <a:srgbClr val="251BED"/>
                </a:solidFill>
              </a:rPr>
              <a:t>&gt; y [1]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 23 32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 </a:t>
            </a:r>
            <a:r>
              <a:rPr lang="es-ES" sz="2000" dirty="0">
                <a:solidFill>
                  <a:srgbClr val="251BED"/>
                </a:solidFill>
              </a:rPr>
              <a:t>&gt;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:</a:t>
            </a:r>
            <a:r>
              <a:rPr lang="en-US" dirty="0"/>
              <a:t> operator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A6CD-DDBA-4B36-AA49-D7AD1BB64C24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14400" y="1905000"/>
            <a:ext cx="7239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r>
              <a:rPr lang="en-US" sz="2000" dirty="0"/>
              <a:t>Following are the examples for : operator </a:t>
            </a:r>
          </a:p>
          <a:p>
            <a:r>
              <a:rPr lang="en-US" sz="2000" dirty="0">
                <a:solidFill>
                  <a:srgbClr val="251BED"/>
                </a:solidFill>
              </a:rPr>
              <a:t>&gt; 5:8 </a:t>
            </a:r>
          </a:p>
          <a:p>
            <a:r>
              <a:rPr lang="en-US" sz="2000" dirty="0"/>
              <a:t>[1] 5 6 7 8 </a:t>
            </a:r>
          </a:p>
          <a:p>
            <a:r>
              <a:rPr lang="en-US" sz="2000" dirty="0">
                <a:solidFill>
                  <a:srgbClr val="251BED"/>
                </a:solidFill>
              </a:rPr>
              <a:t>&gt;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251BED"/>
                </a:solidFill>
              </a:rPr>
              <a:t>&gt; 1:10 </a:t>
            </a:r>
          </a:p>
          <a:p>
            <a:r>
              <a:rPr lang="en-US" sz="2000" dirty="0"/>
              <a:t>[1] 1 2 3 4 5 6 7 8 9 10</a:t>
            </a:r>
          </a:p>
          <a:p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&gt;</a:t>
            </a: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>
                <a:solidFill>
                  <a:srgbClr val="FF0000"/>
                </a:solidFill>
              </a:rPr>
              <a:t>seq</a:t>
            </a:r>
            <a:r>
              <a:rPr lang="en-US" dirty="0">
                <a:solidFill>
                  <a:srgbClr val="FF0000"/>
                </a:solidFill>
              </a:rPr>
              <a:t>()</a:t>
            </a:r>
            <a:r>
              <a:rPr lang="en-US" dirty="0"/>
              <a:t> function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A6CD-DDBA-4B36-AA49-D7AD1BB64C24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8200" y="1905000"/>
            <a:ext cx="72390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This sequence function produces sequence of numbers</a:t>
            </a: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Syntax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is as  follows </a:t>
            </a:r>
            <a:r>
              <a:rPr lang="en-US" sz="2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seq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(from, to, by) </a:t>
            </a: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seq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() function generates Arithmetic sequence</a:t>
            </a: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Following are the  examples which shows the various methods of generating sequences using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seq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() function</a:t>
            </a: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A6CD-DDBA-4B36-AA49-D7AD1BB64C24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81000" y="685800"/>
            <a:ext cx="83058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1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generate the sequence 5,6,7,8</a:t>
            </a:r>
          </a:p>
          <a:p>
            <a:r>
              <a:rPr lang="pt-BR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&gt; seq(5,8) </a:t>
            </a:r>
          </a:p>
          <a:p>
            <a:r>
              <a:rPr lang="pt-BR" sz="2000" dirty="0">
                <a:latin typeface="Arial" pitchFamily="34" charset="0"/>
                <a:cs typeface="Arial" pitchFamily="34" charset="0"/>
              </a:rPr>
              <a:t>	[1] 5 6 7 8 </a:t>
            </a:r>
          </a:p>
          <a:p>
            <a:r>
              <a:rPr lang="pt-BR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&gt;</a:t>
            </a:r>
            <a:endParaRPr lang="en-US" sz="2000" dirty="0">
              <a:solidFill>
                <a:srgbClr val="251BED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2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generate the sequence 5,8,11,14,17,20</a:t>
            </a:r>
          </a:p>
          <a:p>
            <a:r>
              <a:rPr lang="pt-BR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&gt; seq(5,20,3) </a:t>
            </a:r>
          </a:p>
          <a:p>
            <a:r>
              <a:rPr lang="pt-BR" sz="2000" dirty="0">
                <a:latin typeface="Arial" pitchFamily="34" charset="0"/>
                <a:cs typeface="Arial" pitchFamily="34" charset="0"/>
              </a:rPr>
              <a:t>	[1] 5 8 11 14 17 20</a:t>
            </a:r>
          </a:p>
          <a:p>
            <a:r>
              <a:rPr lang="pt-BR" sz="2000" dirty="0">
                <a:latin typeface="Arial" pitchFamily="34" charset="0"/>
                <a:cs typeface="Arial" pitchFamily="34" charset="0"/>
              </a:rPr>
              <a:t>	 </a:t>
            </a:r>
            <a:r>
              <a:rPr lang="pt-BR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&gt; </a:t>
            </a:r>
          </a:p>
          <a:p>
            <a:r>
              <a:rPr lang="pt-BR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3</a:t>
            </a:r>
            <a:r>
              <a:rPr lang="pt-BR" sz="2000" dirty="0">
                <a:latin typeface="Arial" pitchFamily="34" charset="0"/>
                <a:cs typeface="Arial" pitchFamily="34" charset="0"/>
              </a:rPr>
              <a:t> generate sequence of 10 numbers from 1.0 to 2</a:t>
            </a:r>
          </a:p>
          <a:p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&gt;</a:t>
            </a:r>
            <a:r>
              <a:rPr lang="en-US" sz="2000" dirty="0" err="1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seq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(1.1,2,length=10) 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[1] 1.1 1.2 1.3 1.4 1.5 1.6 1.7 1.8 1.9 2.0</a:t>
            </a:r>
          </a:p>
          <a:p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 &gt;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pt-BR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4</a:t>
            </a:r>
            <a:r>
              <a:rPr lang="pt-BR" sz="2000" dirty="0">
                <a:latin typeface="Arial" pitchFamily="34" charset="0"/>
                <a:cs typeface="Arial" pitchFamily="34" charset="0"/>
              </a:rPr>
              <a:t> generate sequence of 10 numbers from 1 to 100</a:t>
            </a: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&gt; </a:t>
            </a:r>
            <a:r>
              <a:rPr lang="en-US" sz="2000" dirty="0" err="1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seq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(1,100, length=10) 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[1] 1 12 23 34 45 56 67 78 89 100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 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&gt;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rep()</a:t>
            </a:r>
            <a:r>
              <a:rPr lang="en-US" dirty="0"/>
              <a:t> function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A2B2F-2620-4688-9733-1AFA6D033BAB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62000" y="1828800"/>
            <a:ext cx="7315200" cy="4190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The  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rep() 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function / 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repea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t function allows us to conveniently put the same constant into long vectors.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251BED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The call form is 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rep(z, k) 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which creates a vector of 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k*length(z)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 elements each equal to z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251BED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The following examples shows the various types of usage of 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rep() 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function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251BED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A6CD-DDBA-4B36-AA49-D7AD1BB64C24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143000" y="838200"/>
            <a:ext cx="69342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1</a:t>
            </a:r>
          </a:p>
          <a:p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&gt; rep(2,4) 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[1] 2 2 2 2</a:t>
            </a:r>
          </a:p>
          <a:p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 &gt;</a:t>
            </a:r>
          </a:p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2</a:t>
            </a:r>
          </a:p>
          <a:p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&gt; rep(3,6) 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[1] 3 3 3 3 3 3</a:t>
            </a:r>
          </a:p>
          <a:p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&gt;</a:t>
            </a:r>
          </a:p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3</a:t>
            </a:r>
          </a:p>
          <a:p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 &gt; rep(1:3,3)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 [1] 1 2 3 1 2 3 1 2 3 </a:t>
            </a:r>
          </a:p>
          <a:p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&gt;</a:t>
            </a:r>
          </a:p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4</a:t>
            </a:r>
          </a:p>
          <a:p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&gt; rep(</a:t>
            </a:r>
            <a:r>
              <a:rPr lang="en-US" sz="2000" dirty="0" err="1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seq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(1,2),4) 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[1] 1 2 1 2 1 2 1 2</a:t>
            </a:r>
          </a:p>
          <a:p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 &gt;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A6CD-DDBA-4B36-AA49-D7AD1BB64C24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57200" y="304800"/>
            <a:ext cx="8382000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5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</a:t>
            </a:r>
            <a:r>
              <a:rPr 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3) and assign it to the name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tmp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</a:t>
            </a:r>
            <a:r>
              <a:rPr 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. . . 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3) where there are 10 occurrences of 4.</a:t>
            </a:r>
          </a:p>
          <a:p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&gt; temp&lt;-c(4,6,3)</a:t>
            </a:r>
          </a:p>
          <a:p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&gt; rep(temp,10)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 [1] 4 6 3 4 6 3 4 6 3 4 6 3 4 6 3 4 6 3 4 6 3 4 6 3 4 6 3 4 6 3</a:t>
            </a:r>
          </a:p>
          <a:p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&gt;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endParaRPr lang="en-US" sz="20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6</a:t>
            </a:r>
          </a:p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(4, 6, 3, 4, 6, 3,. .. ,4, 6, 3, 4) where there are 11 occurrences of 4, 10 occurrences of 6 and 10 occur-</a:t>
            </a:r>
            <a:r>
              <a:rPr lang="en-US" sz="20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rences</a:t>
            </a: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of 3.</a:t>
            </a:r>
          </a:p>
          <a:p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&gt; rep(</a:t>
            </a:r>
            <a:r>
              <a:rPr lang="en-US" sz="2000" dirty="0" err="1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temp,l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=31)</a:t>
            </a:r>
          </a:p>
          <a:p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[1] 4 6 3 4 6 3 4 6 3 4 6 3 4 6 3 4 6 3 4 6 3 4 6 3 4 6 3 4 6 3 4</a:t>
            </a:r>
          </a:p>
          <a:p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&gt;</a:t>
            </a:r>
          </a:p>
          <a:p>
            <a:endParaRPr lang="en-US" sz="2000" dirty="0">
              <a:solidFill>
                <a:srgbClr val="251BED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7</a:t>
            </a:r>
          </a:p>
          <a:p>
            <a:r>
              <a:rPr lang="en-US" sz="2000" dirty="0">
                <a:solidFill>
                  <a:srgbClr val="FF0000"/>
                </a:solidFill>
              </a:rPr>
              <a:t>(4</a:t>
            </a:r>
            <a:r>
              <a:rPr lang="en-US" sz="2000" i="1" dirty="0">
                <a:solidFill>
                  <a:srgbClr val="FF0000"/>
                </a:solidFill>
              </a:rPr>
              <a:t>, </a:t>
            </a:r>
            <a:r>
              <a:rPr lang="en-US" sz="2000" dirty="0">
                <a:solidFill>
                  <a:srgbClr val="FF0000"/>
                </a:solidFill>
              </a:rPr>
              <a:t>4</a:t>
            </a:r>
            <a:r>
              <a:rPr lang="en-US" sz="2000" i="1" dirty="0">
                <a:solidFill>
                  <a:srgbClr val="FF0000"/>
                </a:solidFill>
              </a:rPr>
              <a:t>,. . . , </a:t>
            </a:r>
            <a:r>
              <a:rPr lang="en-US" sz="2000" dirty="0">
                <a:solidFill>
                  <a:srgbClr val="FF0000"/>
                </a:solidFill>
              </a:rPr>
              <a:t>4</a:t>
            </a:r>
            <a:r>
              <a:rPr lang="en-US" sz="2000" i="1" dirty="0">
                <a:solidFill>
                  <a:srgbClr val="FF0000"/>
                </a:solidFill>
              </a:rPr>
              <a:t>, </a:t>
            </a:r>
            <a:r>
              <a:rPr lang="en-US" sz="2000" dirty="0">
                <a:solidFill>
                  <a:srgbClr val="FF0000"/>
                </a:solidFill>
              </a:rPr>
              <a:t>6</a:t>
            </a:r>
            <a:r>
              <a:rPr lang="en-US" sz="2000" i="1" dirty="0">
                <a:solidFill>
                  <a:srgbClr val="FF0000"/>
                </a:solidFill>
              </a:rPr>
              <a:t>, </a:t>
            </a:r>
            <a:r>
              <a:rPr lang="en-US" sz="2000" dirty="0">
                <a:solidFill>
                  <a:srgbClr val="FF0000"/>
                </a:solidFill>
              </a:rPr>
              <a:t>6</a:t>
            </a:r>
            <a:r>
              <a:rPr lang="en-US" sz="2000" i="1" dirty="0">
                <a:solidFill>
                  <a:srgbClr val="FF0000"/>
                </a:solidFill>
              </a:rPr>
              <a:t> ,. . . , </a:t>
            </a:r>
            <a:r>
              <a:rPr lang="en-US" sz="2000" dirty="0">
                <a:solidFill>
                  <a:srgbClr val="FF0000"/>
                </a:solidFill>
              </a:rPr>
              <a:t>6</a:t>
            </a:r>
            <a:r>
              <a:rPr lang="en-US" sz="2000" i="1" dirty="0">
                <a:solidFill>
                  <a:srgbClr val="FF0000"/>
                </a:solidFill>
              </a:rPr>
              <a:t>, </a:t>
            </a:r>
            <a:r>
              <a:rPr lang="en-US" sz="2000" dirty="0">
                <a:solidFill>
                  <a:srgbClr val="FF0000"/>
                </a:solidFill>
              </a:rPr>
              <a:t>3</a:t>
            </a:r>
            <a:r>
              <a:rPr lang="en-US" sz="2000" i="1" dirty="0">
                <a:solidFill>
                  <a:srgbClr val="FF0000"/>
                </a:solidFill>
              </a:rPr>
              <a:t>, </a:t>
            </a:r>
            <a:r>
              <a:rPr lang="en-US" sz="2000" dirty="0">
                <a:solidFill>
                  <a:srgbClr val="FF0000"/>
                </a:solidFill>
              </a:rPr>
              <a:t>3</a:t>
            </a:r>
            <a:r>
              <a:rPr lang="en-US" sz="2000" i="1" dirty="0">
                <a:solidFill>
                  <a:srgbClr val="FF0000"/>
                </a:solidFill>
              </a:rPr>
              <a:t> ,. . . , </a:t>
            </a:r>
            <a:r>
              <a:rPr lang="en-US" sz="2000" dirty="0">
                <a:solidFill>
                  <a:srgbClr val="FF0000"/>
                </a:solidFill>
              </a:rPr>
              <a:t>3) where there are 10 occurrences of 4, 20 occurrences of 6 and 30 occurrences of 3.</a:t>
            </a:r>
            <a:endParaRPr lang="en-US" sz="20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&gt; rep(</a:t>
            </a:r>
            <a:r>
              <a:rPr lang="en-US" sz="2000" dirty="0" err="1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temp,times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=c(10,20,30))</a:t>
            </a:r>
          </a:p>
          <a:p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[1] 4 4 4 4 4 4 4 4 4 4 6 6 6 6 6 6 6 6 6 6 6 6 6 6 6 6 6 6 6 6 3 3 3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[34] 3 3 3 3 3 3 3 3 3 3 3 3 3 3 3 3 3 3 3 3 3 3 3 3 3 3 3</a:t>
            </a:r>
          </a:p>
          <a:p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&gt;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	</a:t>
            </a:r>
            <a:endParaRPr lang="en-US" sz="2000" dirty="0">
              <a:solidFill>
                <a:srgbClr val="251BED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867503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Examples on vector creation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A2B2F-2620-4688-9733-1AFA6D033BAB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295400" y="1219200"/>
            <a:ext cx="69342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1</a:t>
            </a:r>
          </a:p>
          <a:p>
            <a:pPr fontAlgn="t"/>
            <a:r>
              <a:rPr lang="pt-BR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&gt; seq(1,10) </a:t>
            </a:r>
          </a:p>
          <a:p>
            <a:pPr fontAlgn="t"/>
            <a:r>
              <a:rPr lang="pt-BR" sz="2000" dirty="0">
                <a:latin typeface="Arial" pitchFamily="34" charset="0"/>
                <a:cs typeface="Arial" pitchFamily="34" charset="0"/>
              </a:rPr>
              <a:t>	[1] 1 2 3 4 5 6 7 8 9 10 </a:t>
            </a:r>
          </a:p>
          <a:p>
            <a:pPr fontAlgn="t"/>
            <a:r>
              <a:rPr lang="pt-BR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&gt;</a:t>
            </a:r>
          </a:p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2</a:t>
            </a:r>
          </a:p>
          <a:p>
            <a:pPr fontAlgn="t"/>
            <a:r>
              <a:rPr lang="pt-BR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&gt; seq(1,10,2) </a:t>
            </a:r>
          </a:p>
          <a:p>
            <a:pPr fontAlgn="t"/>
            <a:r>
              <a:rPr lang="pt-BR" sz="2000" dirty="0">
                <a:latin typeface="Arial" pitchFamily="34" charset="0"/>
                <a:cs typeface="Arial" pitchFamily="34" charset="0"/>
              </a:rPr>
              <a:t>	[1] 1 3 5 7 9</a:t>
            </a:r>
          </a:p>
          <a:p>
            <a:pPr fontAlgn="t"/>
            <a:r>
              <a:rPr lang="pt-BR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 &gt; </a:t>
            </a:r>
          </a:p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3</a:t>
            </a:r>
          </a:p>
          <a:p>
            <a:pPr fontAlgn="t"/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&gt; </a:t>
            </a:r>
            <a:r>
              <a:rPr lang="en-US" sz="2000" dirty="0" err="1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seq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(from=1,to=10, by=3) </a:t>
            </a:r>
          </a:p>
          <a:p>
            <a:pPr fontAlgn="t"/>
            <a:r>
              <a:rPr lang="en-US" sz="2000" dirty="0">
                <a:latin typeface="Arial" pitchFamily="34" charset="0"/>
                <a:cs typeface="Arial" pitchFamily="34" charset="0"/>
              </a:rPr>
              <a:t>	[1] 1 4 7 10 </a:t>
            </a:r>
          </a:p>
          <a:p>
            <a:pPr fontAlgn="t"/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&gt; </a:t>
            </a:r>
          </a:p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4</a:t>
            </a:r>
          </a:p>
          <a:p>
            <a:r>
              <a:rPr lang="pt-BR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&gt; x&lt;-seq(1,10,2) </a:t>
            </a:r>
          </a:p>
          <a:p>
            <a:r>
              <a:rPr lang="pt-BR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&gt; x</a:t>
            </a:r>
            <a:r>
              <a:rPr lang="pt-BR" sz="2000" dirty="0">
                <a:latin typeface="Arial" pitchFamily="34" charset="0"/>
                <a:cs typeface="Arial" pitchFamily="34" charset="0"/>
              </a:rPr>
              <a:t>	</a:t>
            </a:r>
            <a:r>
              <a:rPr lang="pt-BR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here the object x is called VECTOR</a:t>
            </a:r>
          </a:p>
          <a:p>
            <a:r>
              <a:rPr lang="pt-BR" sz="2000" dirty="0">
                <a:latin typeface="Arial" pitchFamily="34" charset="0"/>
                <a:cs typeface="Arial" pitchFamily="34" charset="0"/>
              </a:rPr>
              <a:t>	 [1] 1 3 5 7 9</a:t>
            </a:r>
          </a:p>
          <a:p>
            <a:r>
              <a:rPr lang="pt-BR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&gt;</a:t>
            </a:r>
            <a:endParaRPr lang="en-US" sz="2000" dirty="0">
              <a:solidFill>
                <a:srgbClr val="251BED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Examples on vector creation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A2B2F-2620-4688-9733-1AFA6D033BAB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295400" y="1219200"/>
            <a:ext cx="69342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5</a:t>
            </a:r>
          </a:p>
          <a:p>
            <a:pPr fontAlgn="t"/>
            <a:r>
              <a:rPr lang="pt-BR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US" sz="2000" dirty="0">
                <a:solidFill>
                  <a:srgbClr val="251BED"/>
                </a:solidFill>
              </a:rPr>
              <a:t>&gt; c(1,2,3,4,5,6,7,8,9,10) </a:t>
            </a:r>
          </a:p>
          <a:p>
            <a:pPr fontAlgn="t"/>
            <a:r>
              <a:rPr lang="en-US" sz="2000" dirty="0"/>
              <a:t>	[1] 1 2 3 4 5 6 7 8 9 10 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</a:t>
            </a:r>
          </a:p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6</a:t>
            </a:r>
          </a:p>
          <a:p>
            <a:pPr fontAlgn="t"/>
            <a:r>
              <a:rPr lang="pt-BR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pt-BR" sz="2000" dirty="0">
                <a:solidFill>
                  <a:srgbClr val="251BED"/>
                </a:solidFill>
              </a:rPr>
              <a:t>&gt; c(seq(1,10))</a:t>
            </a:r>
          </a:p>
          <a:p>
            <a:pPr fontAlgn="t"/>
            <a:r>
              <a:rPr lang="pt-BR" sz="2000" dirty="0"/>
              <a:t>	 [1] 1 2 3 4 5 6 7 8 9 10</a:t>
            </a:r>
          </a:p>
          <a:p>
            <a:pPr fontAlgn="t"/>
            <a:r>
              <a:rPr lang="pt-BR" sz="2000" dirty="0"/>
              <a:t>	</a:t>
            </a:r>
            <a:r>
              <a:rPr lang="pt-BR" sz="2000" dirty="0">
                <a:solidFill>
                  <a:srgbClr val="251BED"/>
                </a:solidFill>
              </a:rPr>
              <a:t> &gt;</a:t>
            </a:r>
            <a:r>
              <a:rPr lang="pt-BR" sz="2000" dirty="0"/>
              <a:t> </a:t>
            </a:r>
          </a:p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7</a:t>
            </a:r>
          </a:p>
          <a:p>
            <a:pPr fontAlgn="t"/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US" sz="2000" dirty="0">
                <a:solidFill>
                  <a:srgbClr val="251BED"/>
                </a:solidFill>
              </a:rPr>
              <a:t>&gt; c(1:10) </a:t>
            </a:r>
          </a:p>
          <a:p>
            <a:pPr fontAlgn="t"/>
            <a:r>
              <a:rPr lang="en-US" sz="2000" dirty="0"/>
              <a:t>	[1] 1 2 3 4 5 6 7 8 9 10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 &gt; </a:t>
            </a:r>
          </a:p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8</a:t>
            </a:r>
          </a:p>
          <a:p>
            <a:pPr fontAlgn="t"/>
            <a:r>
              <a:rPr lang="pt-BR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pt-BR" sz="2000" dirty="0">
                <a:solidFill>
                  <a:srgbClr val="251BED"/>
                </a:solidFill>
              </a:rPr>
              <a:t>&gt; c(seq(1,10,2))</a:t>
            </a:r>
          </a:p>
          <a:p>
            <a:pPr fontAlgn="t"/>
            <a:r>
              <a:rPr lang="pt-BR" sz="2000" dirty="0"/>
              <a:t>	 [1] 1 3 5 7 9</a:t>
            </a:r>
          </a:p>
          <a:p>
            <a:pPr fontAlgn="t"/>
            <a:r>
              <a:rPr lang="pt-BR" sz="2000" dirty="0"/>
              <a:t>	</a:t>
            </a:r>
            <a:r>
              <a:rPr lang="pt-BR" sz="2000" dirty="0">
                <a:solidFill>
                  <a:srgbClr val="251BED"/>
                </a:solidFill>
              </a:rPr>
              <a:t> &gt;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Vector Arithmetic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A6CD-DDBA-4B36-AA49-D7AD1BB64C24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09600" y="1828800"/>
            <a:ext cx="76962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We can add vectors and multiply vectors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Multiplication may be both vector and scalar multiplication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Sum of two vectors adds two vectors component wise 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To add two vectors both must be of same length and the sum results the vector of same length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To perform vector multiplication the vectors are of same length and the result is also a vector of same length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 the vector multiplication is nothing but inner product or dot product of vectors it multiplies elements component wise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Examples on vector Arithmetic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A2B2F-2620-4688-9733-1AFA6D033BAB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14400" y="1905000"/>
            <a:ext cx="69342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1</a:t>
            </a:r>
          </a:p>
          <a:p>
            <a:pPr fontAlgn="t"/>
            <a:r>
              <a:rPr lang="pt-BR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" sz="2000" dirty="0">
                <a:solidFill>
                  <a:srgbClr val="251BED"/>
                </a:solidFill>
              </a:rPr>
              <a:t>&gt; x&lt;-c(</a:t>
            </a:r>
            <a:r>
              <a:rPr lang="es-ES" sz="2000" dirty="0" err="1">
                <a:solidFill>
                  <a:srgbClr val="251BED"/>
                </a:solidFill>
              </a:rPr>
              <a:t>seq</a:t>
            </a:r>
            <a:r>
              <a:rPr lang="es-ES" sz="2000" dirty="0">
                <a:solidFill>
                  <a:srgbClr val="251BED"/>
                </a:solidFill>
              </a:rPr>
              <a:t>(1,10)) </a:t>
            </a:r>
          </a:p>
          <a:p>
            <a:pPr fontAlgn="t"/>
            <a:r>
              <a:rPr lang="es-ES" sz="2000" dirty="0">
                <a:solidFill>
                  <a:srgbClr val="251BED"/>
                </a:solidFill>
              </a:rPr>
              <a:t>	&gt; y&lt;-c(</a:t>
            </a:r>
            <a:r>
              <a:rPr lang="es-ES" sz="2000" dirty="0" err="1">
                <a:solidFill>
                  <a:srgbClr val="251BED"/>
                </a:solidFill>
              </a:rPr>
              <a:t>seq</a:t>
            </a:r>
            <a:r>
              <a:rPr lang="es-ES" sz="2000" dirty="0">
                <a:solidFill>
                  <a:srgbClr val="251BED"/>
                </a:solidFill>
              </a:rPr>
              <a:t>(11,20)) </a:t>
            </a:r>
          </a:p>
          <a:p>
            <a:pPr fontAlgn="t"/>
            <a:r>
              <a:rPr lang="es-ES" sz="2000" dirty="0">
                <a:solidFill>
                  <a:srgbClr val="251BED"/>
                </a:solidFill>
              </a:rPr>
              <a:t>	&gt; x </a:t>
            </a:r>
          </a:p>
          <a:p>
            <a:pPr fontAlgn="t"/>
            <a:r>
              <a:rPr lang="es-ES" sz="2000" dirty="0"/>
              <a:t>	[1] 1 2 3 4 5 6 7 8 9 10</a:t>
            </a:r>
          </a:p>
          <a:p>
            <a:pPr fontAlgn="t"/>
            <a:r>
              <a:rPr lang="es-E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 &gt; y </a:t>
            </a:r>
          </a:p>
          <a:p>
            <a:pPr fontAlgn="t"/>
            <a:r>
              <a:rPr lang="es-ES" sz="2000" dirty="0"/>
              <a:t>	[1] 11 12 13 14 15 16 17 18 19 20 </a:t>
            </a:r>
          </a:p>
          <a:p>
            <a:pPr fontAlgn="t"/>
            <a:r>
              <a:rPr lang="es-E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&gt; </a:t>
            </a:r>
            <a:r>
              <a:rPr lang="es-ES" sz="2000" dirty="0" err="1">
                <a:solidFill>
                  <a:srgbClr val="251BED"/>
                </a:solidFill>
              </a:rPr>
              <a:t>x+y</a:t>
            </a:r>
            <a:r>
              <a:rPr lang="es-ES" sz="2000" dirty="0">
                <a:solidFill>
                  <a:srgbClr val="251BED"/>
                </a:solidFill>
              </a:rPr>
              <a:t> </a:t>
            </a:r>
          </a:p>
          <a:p>
            <a:pPr fontAlgn="t"/>
            <a:r>
              <a:rPr lang="es-ES" sz="2000" dirty="0"/>
              <a:t>	[1] 12 14 16 18 20 22 24 26 28 30</a:t>
            </a:r>
          </a:p>
          <a:p>
            <a:pPr fontAlgn="t"/>
            <a:r>
              <a:rPr lang="es-E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 &gt; </a:t>
            </a:r>
          </a:p>
          <a:p>
            <a:pPr fontAlgn="t"/>
            <a:endParaRPr lang="pt-BR" sz="2000" dirty="0">
              <a:solidFill>
                <a:srgbClr val="251BED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Examples on vector Arithmetic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A2B2F-2620-4688-9733-1AFA6D033BAB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66800" y="1905000"/>
            <a:ext cx="6934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2</a:t>
            </a:r>
          </a:p>
          <a:p>
            <a:pPr fontAlgn="t"/>
            <a:r>
              <a:rPr lang="pt-BR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" sz="2000" dirty="0"/>
              <a:t> </a:t>
            </a:r>
            <a:r>
              <a:rPr lang="es-ES" sz="2000" dirty="0">
                <a:solidFill>
                  <a:srgbClr val="251BED"/>
                </a:solidFill>
              </a:rPr>
              <a:t>&gt; x&lt;-c(</a:t>
            </a:r>
            <a:r>
              <a:rPr lang="es-ES" sz="2000" dirty="0" err="1">
                <a:solidFill>
                  <a:srgbClr val="251BED"/>
                </a:solidFill>
              </a:rPr>
              <a:t>seq</a:t>
            </a:r>
            <a:r>
              <a:rPr lang="es-ES" sz="2000" dirty="0">
                <a:solidFill>
                  <a:srgbClr val="251BED"/>
                </a:solidFill>
              </a:rPr>
              <a:t>(1,10)) </a:t>
            </a:r>
          </a:p>
          <a:p>
            <a:pPr fontAlgn="t"/>
            <a:r>
              <a:rPr lang="es-ES" sz="2000" dirty="0">
                <a:solidFill>
                  <a:srgbClr val="251BED"/>
                </a:solidFill>
              </a:rPr>
              <a:t>	&gt; y&lt;-c(</a:t>
            </a:r>
            <a:r>
              <a:rPr lang="es-ES" sz="2000" dirty="0" err="1">
                <a:solidFill>
                  <a:srgbClr val="251BED"/>
                </a:solidFill>
              </a:rPr>
              <a:t>seq</a:t>
            </a:r>
            <a:r>
              <a:rPr lang="es-ES" sz="2000" dirty="0">
                <a:solidFill>
                  <a:srgbClr val="251BED"/>
                </a:solidFill>
              </a:rPr>
              <a:t>(11,20))</a:t>
            </a:r>
          </a:p>
          <a:p>
            <a:pPr fontAlgn="t"/>
            <a:r>
              <a:rPr lang="es-ES" sz="2000" dirty="0">
                <a:solidFill>
                  <a:srgbClr val="251BED"/>
                </a:solidFill>
              </a:rPr>
              <a:t>	 &gt; x </a:t>
            </a:r>
          </a:p>
          <a:p>
            <a:pPr fontAlgn="t"/>
            <a:r>
              <a:rPr lang="es-ES" sz="2000" dirty="0"/>
              <a:t>	[1] 1 2 3 4 5 6 7 8 9 10 </a:t>
            </a:r>
          </a:p>
          <a:p>
            <a:pPr fontAlgn="t"/>
            <a:r>
              <a:rPr lang="es-E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&gt; y</a:t>
            </a:r>
          </a:p>
          <a:p>
            <a:pPr fontAlgn="t"/>
            <a:r>
              <a:rPr lang="es-ES" sz="2000" dirty="0"/>
              <a:t>	 [1] 11 12 13 14 15 16 17 18 19 20 </a:t>
            </a:r>
          </a:p>
          <a:p>
            <a:pPr fontAlgn="t"/>
            <a:r>
              <a:rPr lang="es-E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&gt; x*y</a:t>
            </a:r>
          </a:p>
          <a:p>
            <a:pPr fontAlgn="t"/>
            <a:r>
              <a:rPr lang="es-ES" sz="2000" dirty="0"/>
              <a:t>	 [1] 11 24 39 56 75 96 119 144 171 200</a:t>
            </a:r>
          </a:p>
          <a:p>
            <a:pPr fontAlgn="t"/>
            <a:r>
              <a:rPr lang="es-E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 &gt; </a:t>
            </a:r>
          </a:p>
          <a:p>
            <a:pPr fontAlgn="t"/>
            <a:endParaRPr lang="pt-BR" sz="2000" dirty="0">
              <a:solidFill>
                <a:srgbClr val="251BED"/>
              </a:solidFill>
              <a:latin typeface="Arial" pitchFamily="34" charset="0"/>
              <a:cs typeface="Arial" pitchFamily="34" charset="0"/>
            </a:endParaRPr>
          </a:p>
          <a:p>
            <a:r>
              <a:rPr lang="pt-BR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Examples on vector Arithmetic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A2B2F-2620-4688-9733-1AFA6D033BAB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66800" y="1524000"/>
            <a:ext cx="69342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3</a:t>
            </a:r>
          </a:p>
          <a:p>
            <a:pPr fontAlgn="t"/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" sz="2000" dirty="0"/>
              <a:t> </a:t>
            </a:r>
            <a:r>
              <a:rPr lang="es-ES" sz="2000" dirty="0">
                <a:solidFill>
                  <a:srgbClr val="251BED"/>
                </a:solidFill>
              </a:rPr>
              <a:t>&gt; x&lt;-c(</a:t>
            </a:r>
            <a:r>
              <a:rPr lang="es-ES" sz="2000" dirty="0" err="1">
                <a:solidFill>
                  <a:srgbClr val="251BED"/>
                </a:solidFill>
              </a:rPr>
              <a:t>seq</a:t>
            </a:r>
            <a:r>
              <a:rPr lang="es-ES" sz="2000" dirty="0">
                <a:solidFill>
                  <a:srgbClr val="251BED"/>
                </a:solidFill>
              </a:rPr>
              <a:t>(1,10)) </a:t>
            </a:r>
          </a:p>
          <a:p>
            <a:pPr fontAlgn="t"/>
            <a:r>
              <a:rPr lang="es-ES" sz="2000" dirty="0">
                <a:solidFill>
                  <a:srgbClr val="251BED"/>
                </a:solidFill>
              </a:rPr>
              <a:t>	&gt; y&lt;-c(</a:t>
            </a:r>
            <a:r>
              <a:rPr lang="es-ES" sz="2000" dirty="0" err="1">
                <a:solidFill>
                  <a:srgbClr val="251BED"/>
                </a:solidFill>
              </a:rPr>
              <a:t>seq</a:t>
            </a:r>
            <a:r>
              <a:rPr lang="es-ES" sz="2000" dirty="0">
                <a:solidFill>
                  <a:srgbClr val="251BED"/>
                </a:solidFill>
              </a:rPr>
              <a:t>(11,20)) </a:t>
            </a:r>
          </a:p>
          <a:p>
            <a:pPr fontAlgn="t"/>
            <a:r>
              <a:rPr lang="es-ES" sz="2000" dirty="0">
                <a:solidFill>
                  <a:srgbClr val="251BED"/>
                </a:solidFill>
              </a:rPr>
              <a:t>	&gt; x</a:t>
            </a:r>
          </a:p>
          <a:p>
            <a:pPr fontAlgn="t"/>
            <a:r>
              <a:rPr lang="es-ES" sz="2000" dirty="0"/>
              <a:t>	 [1] 1 2 3 4 5 6 7 8 9 10</a:t>
            </a:r>
          </a:p>
          <a:p>
            <a:pPr fontAlgn="t"/>
            <a:r>
              <a:rPr lang="es-E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 &gt; y</a:t>
            </a:r>
          </a:p>
          <a:p>
            <a:pPr fontAlgn="t"/>
            <a:r>
              <a:rPr lang="es-ES" sz="2000" dirty="0"/>
              <a:t>	 [1] 11 12 13 14 15 16 17 18 19 20</a:t>
            </a:r>
          </a:p>
          <a:p>
            <a:pPr fontAlgn="t"/>
            <a:r>
              <a:rPr lang="es-ES" sz="2000" dirty="0"/>
              <a:t>	 </a:t>
            </a:r>
            <a:r>
              <a:rPr lang="es-ES" sz="2000" dirty="0">
                <a:solidFill>
                  <a:srgbClr val="251BED"/>
                </a:solidFill>
              </a:rPr>
              <a:t>&gt; x-y </a:t>
            </a:r>
          </a:p>
          <a:p>
            <a:pPr fontAlgn="t"/>
            <a:r>
              <a:rPr lang="es-ES" sz="2000" dirty="0"/>
              <a:t>	[1] -10 -10 -10 -10 -10 -10 -10 -10 -10 -10</a:t>
            </a:r>
          </a:p>
          <a:p>
            <a:pPr fontAlgn="t"/>
            <a:r>
              <a:rPr lang="es-ES" sz="2000" dirty="0"/>
              <a:t>	 </a:t>
            </a:r>
            <a:r>
              <a:rPr lang="es-ES" sz="2000" dirty="0">
                <a:solidFill>
                  <a:srgbClr val="251BED"/>
                </a:solidFill>
              </a:rPr>
              <a:t>&gt;</a:t>
            </a:r>
            <a:r>
              <a:rPr lang="es-ES" sz="2000" dirty="0"/>
              <a:t>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Examples on vector Arithmetic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A2B2F-2620-4688-9733-1AFA6D033BAB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04800" y="1524000"/>
            <a:ext cx="86106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4</a:t>
            </a:r>
          </a:p>
          <a:p>
            <a:r>
              <a:rPr lang="pt-BR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" sz="2000" dirty="0">
                <a:solidFill>
                  <a:srgbClr val="251BED"/>
                </a:solidFill>
              </a:rPr>
              <a:t> &gt; x&lt;-c(</a:t>
            </a:r>
            <a:r>
              <a:rPr lang="es-ES" sz="2000" dirty="0" err="1">
                <a:solidFill>
                  <a:srgbClr val="251BED"/>
                </a:solidFill>
              </a:rPr>
              <a:t>seq</a:t>
            </a:r>
            <a:r>
              <a:rPr lang="es-ES" sz="2000" dirty="0">
                <a:solidFill>
                  <a:srgbClr val="251BED"/>
                </a:solidFill>
              </a:rPr>
              <a:t>(1,10)) </a:t>
            </a:r>
          </a:p>
          <a:p>
            <a:r>
              <a:rPr lang="es-ES" sz="2000" dirty="0">
                <a:solidFill>
                  <a:srgbClr val="251BED"/>
                </a:solidFill>
              </a:rPr>
              <a:t>	&gt; y&lt;-c(</a:t>
            </a:r>
            <a:r>
              <a:rPr lang="es-ES" sz="2000" dirty="0" err="1">
                <a:solidFill>
                  <a:srgbClr val="251BED"/>
                </a:solidFill>
              </a:rPr>
              <a:t>seq</a:t>
            </a:r>
            <a:r>
              <a:rPr lang="es-ES" sz="2000" dirty="0">
                <a:solidFill>
                  <a:srgbClr val="251BED"/>
                </a:solidFill>
              </a:rPr>
              <a:t>(11,20))</a:t>
            </a:r>
          </a:p>
          <a:p>
            <a:r>
              <a:rPr lang="es-ES" sz="2000" dirty="0">
                <a:solidFill>
                  <a:srgbClr val="251BED"/>
                </a:solidFill>
              </a:rPr>
              <a:t>	 &gt; x </a:t>
            </a:r>
          </a:p>
          <a:p>
            <a:r>
              <a:rPr lang="es-ES" sz="2000" dirty="0"/>
              <a:t>	[1] 1 2 3 4 5 6 7 8 9 10</a:t>
            </a:r>
          </a:p>
          <a:p>
            <a:r>
              <a:rPr lang="es-ES" sz="2000" dirty="0"/>
              <a:t>	 </a:t>
            </a:r>
            <a:r>
              <a:rPr lang="es-ES" sz="2000" dirty="0">
                <a:solidFill>
                  <a:srgbClr val="251BED"/>
                </a:solidFill>
              </a:rPr>
              <a:t>&gt; y</a:t>
            </a:r>
            <a:r>
              <a:rPr lang="es-ES" sz="2000" dirty="0"/>
              <a:t> </a:t>
            </a:r>
          </a:p>
          <a:p>
            <a:r>
              <a:rPr lang="es-ES" sz="2000" dirty="0"/>
              <a:t>	[1] 11 12 13 14 15 16 17 18 19 20 </a:t>
            </a:r>
          </a:p>
          <a:p>
            <a:r>
              <a:rPr lang="es-E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&gt;x/y </a:t>
            </a:r>
          </a:p>
          <a:p>
            <a:r>
              <a:rPr lang="es-ES" sz="2000" dirty="0"/>
              <a:t>	[1] 0.09090909 0.16666667 0.23076923 0.28571429 0.33333333 	[6]0.37500000 0.41176471  0.44444444 0.47368421 0.50000000</a:t>
            </a:r>
          </a:p>
          <a:p>
            <a:r>
              <a:rPr lang="es-E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&gt;</a:t>
            </a:r>
            <a:endParaRPr lang="pt-BR" sz="2000" dirty="0">
              <a:solidFill>
                <a:srgbClr val="251BED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Examples on vector Arithmetic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A2B2F-2620-4688-9733-1AFA6D033BAB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81000" y="1524000"/>
            <a:ext cx="84582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5</a:t>
            </a:r>
          </a:p>
          <a:p>
            <a:r>
              <a:rPr lang="pt-BR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" sz="2000" dirty="0"/>
              <a:t> </a:t>
            </a:r>
            <a:r>
              <a:rPr lang="es-ES" sz="2000" dirty="0">
                <a:solidFill>
                  <a:srgbClr val="251BED"/>
                </a:solidFill>
              </a:rPr>
              <a:t>&gt; x&lt;-c(</a:t>
            </a:r>
            <a:r>
              <a:rPr lang="es-ES" sz="2000" dirty="0" err="1">
                <a:solidFill>
                  <a:srgbClr val="251BED"/>
                </a:solidFill>
              </a:rPr>
              <a:t>seq</a:t>
            </a:r>
            <a:r>
              <a:rPr lang="es-ES" sz="2000" dirty="0">
                <a:solidFill>
                  <a:srgbClr val="251BED"/>
                </a:solidFill>
              </a:rPr>
              <a:t>(1,10)) </a:t>
            </a:r>
          </a:p>
          <a:p>
            <a:r>
              <a:rPr lang="es-ES" sz="2000" dirty="0">
                <a:solidFill>
                  <a:srgbClr val="251BED"/>
                </a:solidFill>
              </a:rPr>
              <a:t>	&gt; y&lt;-c(</a:t>
            </a:r>
            <a:r>
              <a:rPr lang="es-ES" sz="2000" dirty="0" err="1">
                <a:solidFill>
                  <a:srgbClr val="251BED"/>
                </a:solidFill>
              </a:rPr>
              <a:t>seq</a:t>
            </a:r>
            <a:r>
              <a:rPr lang="es-ES" sz="2000" dirty="0">
                <a:solidFill>
                  <a:srgbClr val="251BED"/>
                </a:solidFill>
              </a:rPr>
              <a:t>(11,20)) </a:t>
            </a:r>
          </a:p>
          <a:p>
            <a:r>
              <a:rPr lang="es-ES" sz="2000" dirty="0">
                <a:solidFill>
                  <a:srgbClr val="251BED"/>
                </a:solidFill>
              </a:rPr>
              <a:t>	&gt; x </a:t>
            </a:r>
          </a:p>
          <a:p>
            <a:r>
              <a:rPr lang="es-ES" sz="2000" dirty="0"/>
              <a:t>	[1] 1 2 3 4 5 6 7 8 9 10</a:t>
            </a:r>
          </a:p>
          <a:p>
            <a:r>
              <a:rPr lang="es-E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 &gt; y </a:t>
            </a:r>
          </a:p>
          <a:p>
            <a:r>
              <a:rPr lang="es-ES" sz="2000" dirty="0"/>
              <a:t>	[1] 11 12 13 14 15 16 17 18 19 20 </a:t>
            </a:r>
          </a:p>
          <a:p>
            <a:r>
              <a:rPr lang="es-E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&gt; y/x </a:t>
            </a:r>
          </a:p>
          <a:p>
            <a:r>
              <a:rPr lang="es-ES" sz="2000" dirty="0"/>
              <a:t>	[1] 11.000000 6.000000 4.333333 3.500000 3.000000 2.666667 	[7]2.428571  2.250000 2.111111 2.000000</a:t>
            </a:r>
            <a:endParaRPr lang="pt-BR" sz="2000" dirty="0">
              <a:solidFill>
                <a:srgbClr val="251BED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Examples on vector Arithmetic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A2B2F-2620-4688-9733-1AFA6D033BAB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66800" y="1524000"/>
            <a:ext cx="69342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6</a:t>
            </a:r>
          </a:p>
          <a:p>
            <a:pPr fontAlgn="t"/>
            <a:r>
              <a:rPr lang="pt-BR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" sz="2000" dirty="0">
                <a:solidFill>
                  <a:srgbClr val="251BED"/>
                </a:solidFill>
              </a:rPr>
              <a:t> &gt; x </a:t>
            </a:r>
          </a:p>
          <a:p>
            <a:pPr fontAlgn="t"/>
            <a:r>
              <a:rPr lang="es-ES" sz="2000" dirty="0"/>
              <a:t>	[1] 1 2 3 4 5 6 7 8 9 10 </a:t>
            </a:r>
          </a:p>
          <a:p>
            <a:pPr fontAlgn="t"/>
            <a:r>
              <a:rPr lang="es-E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&gt; y</a:t>
            </a:r>
          </a:p>
          <a:p>
            <a:pPr fontAlgn="t"/>
            <a:r>
              <a:rPr lang="es-ES" sz="2000" dirty="0"/>
              <a:t>	 [1] 11 12 13 14 15 16 17 18 19 20</a:t>
            </a:r>
          </a:p>
          <a:p>
            <a:pPr fontAlgn="t"/>
            <a:r>
              <a:rPr lang="es-E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 &gt; 2*x</a:t>
            </a:r>
          </a:p>
          <a:p>
            <a:pPr fontAlgn="t"/>
            <a:r>
              <a:rPr lang="es-ES" sz="2000" dirty="0"/>
              <a:t>	 [1] 2 4 6 8 10 12 14 16 18 20 </a:t>
            </a:r>
          </a:p>
          <a:p>
            <a:pPr fontAlgn="t"/>
            <a:r>
              <a:rPr lang="es-E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&gt; 2*</a:t>
            </a:r>
            <a:r>
              <a:rPr lang="es-ES" sz="2000" dirty="0" err="1">
                <a:solidFill>
                  <a:srgbClr val="251BED"/>
                </a:solidFill>
              </a:rPr>
              <a:t>x+y</a:t>
            </a:r>
            <a:endParaRPr lang="es-ES" sz="2000" dirty="0">
              <a:solidFill>
                <a:srgbClr val="251BED"/>
              </a:solidFill>
            </a:endParaRPr>
          </a:p>
          <a:p>
            <a:pPr fontAlgn="t"/>
            <a:r>
              <a:rPr lang="es-ES" sz="2000" dirty="0"/>
              <a:t>	 [1] 13 16 19 22 25 28 31 34 37 40 </a:t>
            </a:r>
          </a:p>
          <a:p>
            <a:pPr fontAlgn="t"/>
            <a:r>
              <a:rPr lang="es-E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&gt;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Examples on vector Arithmetic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A2B2F-2620-4688-9733-1AFA6D033BAB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66800" y="1524000"/>
            <a:ext cx="69342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7</a:t>
            </a:r>
          </a:p>
          <a:p>
            <a:pPr fontAlgn="t"/>
            <a:r>
              <a:rPr lang="pt-BR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" sz="2000" dirty="0">
                <a:solidFill>
                  <a:srgbClr val="251BED"/>
                </a:solidFill>
              </a:rPr>
              <a:t> &gt; x</a:t>
            </a:r>
          </a:p>
          <a:p>
            <a:pPr fontAlgn="t"/>
            <a:r>
              <a:rPr lang="es-ES" sz="2000" dirty="0">
                <a:solidFill>
                  <a:srgbClr val="251BED"/>
                </a:solidFill>
              </a:rPr>
              <a:t>	</a:t>
            </a:r>
            <a:r>
              <a:rPr lang="es-ES" sz="2000" dirty="0"/>
              <a:t> [1] 1 2 3 4 5 6 7 8 9 10 </a:t>
            </a:r>
          </a:p>
          <a:p>
            <a:pPr fontAlgn="t"/>
            <a:r>
              <a:rPr lang="es-E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&gt; y </a:t>
            </a:r>
          </a:p>
          <a:p>
            <a:pPr fontAlgn="t"/>
            <a:r>
              <a:rPr lang="es-ES" sz="2000" dirty="0"/>
              <a:t>	[1] 11 12 13 14 15 16 17 18 19 20 </a:t>
            </a:r>
          </a:p>
          <a:p>
            <a:pPr fontAlgn="t"/>
            <a:r>
              <a:rPr lang="es-E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&gt; x^2 </a:t>
            </a:r>
          </a:p>
          <a:p>
            <a:pPr fontAlgn="t"/>
            <a:r>
              <a:rPr lang="es-ES" sz="2000" dirty="0"/>
              <a:t>	[1] 1 4 9 16 25 36 49 64 81 100 </a:t>
            </a:r>
          </a:p>
          <a:p>
            <a:pPr fontAlgn="t"/>
            <a:r>
              <a:rPr lang="es-E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&gt; x^3 </a:t>
            </a:r>
          </a:p>
          <a:p>
            <a:pPr fontAlgn="t"/>
            <a:r>
              <a:rPr lang="es-ES" sz="2000" dirty="0"/>
              <a:t>	[1] 1 8 27 64 125 216 343 512 729 1000 </a:t>
            </a:r>
          </a:p>
          <a:p>
            <a:pPr fontAlgn="t"/>
            <a:r>
              <a:rPr lang="es-E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&gt;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Recycling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A6CD-DDBA-4B36-AA49-D7AD1BB64C24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14400" y="1905000"/>
            <a:ext cx="7543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When applying one operation on vectors which requires them to be the same length, the shorter one will be </a:t>
            </a:r>
            <a:r>
              <a:rPr lang="en-US" sz="2000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recycled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that is repeated until it is long enough to match the longer one 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In general recycling is done only when the length of the longer vector is multiple of the length of the shorter length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Consider the following examples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Examples on vector Arithmetic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A2B2F-2620-4688-9733-1AFA6D033BAB}" type="datetime3">
              <a:rPr lang="en-US" smtClean="0"/>
              <a:pPr/>
              <a:t>27 February 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66800" y="1524000"/>
            <a:ext cx="69342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8</a:t>
            </a:r>
          </a:p>
          <a:p>
            <a:pPr fontAlgn="t"/>
            <a:r>
              <a:rPr lang="pt-BR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 &gt; x&lt;-</a:t>
            </a:r>
            <a:r>
              <a:rPr lang="es-ES" sz="2000" dirty="0" err="1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seq</a:t>
            </a:r>
            <a:r>
              <a:rPr lang="es-E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(1,10,2) </a:t>
            </a:r>
          </a:p>
          <a:p>
            <a:pPr fontAlgn="t"/>
            <a:r>
              <a:rPr lang="es-E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&gt; y&lt;-</a:t>
            </a:r>
            <a:r>
              <a:rPr lang="es-ES" sz="2000" dirty="0" err="1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seq</a:t>
            </a:r>
            <a:r>
              <a:rPr lang="es-E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(1,10) </a:t>
            </a:r>
          </a:p>
          <a:p>
            <a:pPr fontAlgn="t"/>
            <a:r>
              <a:rPr lang="es-E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&gt; x </a:t>
            </a:r>
          </a:p>
          <a:p>
            <a:pPr fontAlgn="t"/>
            <a:r>
              <a:rPr lang="es-ES" sz="2000" dirty="0">
                <a:latin typeface="Arial" pitchFamily="34" charset="0"/>
                <a:cs typeface="Arial" pitchFamily="34" charset="0"/>
              </a:rPr>
              <a:t>	[1] 1 3 5 7 9 </a:t>
            </a:r>
          </a:p>
          <a:p>
            <a:pPr fontAlgn="t"/>
            <a:r>
              <a:rPr lang="es-ES" sz="2000" dirty="0">
                <a:latin typeface="Arial" pitchFamily="34" charset="0"/>
                <a:cs typeface="Arial" pitchFamily="34" charset="0"/>
              </a:rPr>
              <a:t>	</a:t>
            </a:r>
            <a:r>
              <a:rPr lang="es-E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&gt; y </a:t>
            </a:r>
          </a:p>
          <a:p>
            <a:pPr fontAlgn="t"/>
            <a:r>
              <a:rPr lang="es-ES" sz="2000" dirty="0">
                <a:latin typeface="Arial" pitchFamily="34" charset="0"/>
                <a:cs typeface="Arial" pitchFamily="34" charset="0"/>
              </a:rPr>
              <a:t>	[1] 1 2 3 4 5 6 7 8 9 10</a:t>
            </a:r>
          </a:p>
          <a:p>
            <a:pPr fontAlgn="t"/>
            <a:r>
              <a:rPr lang="es-ES" sz="2000" dirty="0">
                <a:latin typeface="Arial" pitchFamily="34" charset="0"/>
                <a:cs typeface="Arial" pitchFamily="34" charset="0"/>
              </a:rPr>
              <a:t>	</a:t>
            </a:r>
            <a:r>
              <a:rPr lang="es-E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 &gt; </a:t>
            </a:r>
            <a:r>
              <a:rPr lang="es-ES" sz="2000" dirty="0" err="1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x+y</a:t>
            </a:r>
            <a:r>
              <a:rPr lang="es-E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fontAlgn="t"/>
            <a:r>
              <a:rPr lang="es-ES" sz="2000" dirty="0">
                <a:latin typeface="Arial" pitchFamily="34" charset="0"/>
                <a:cs typeface="Arial" pitchFamily="34" charset="0"/>
              </a:rPr>
              <a:t>	[1] 2 5 8 11 14 7 10 13 16 19 </a:t>
            </a:r>
          </a:p>
          <a:p>
            <a:pPr fontAlgn="t"/>
            <a:r>
              <a:rPr lang="es-ES" sz="2000" dirty="0">
                <a:latin typeface="Arial" pitchFamily="34" charset="0"/>
                <a:cs typeface="Arial" pitchFamily="34" charset="0"/>
              </a:rPr>
              <a:t>	</a:t>
            </a:r>
            <a:r>
              <a:rPr lang="es-E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&gt; </a:t>
            </a:r>
            <a:r>
              <a:rPr lang="es-ES" sz="2000" dirty="0" err="1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length</a:t>
            </a:r>
            <a:r>
              <a:rPr lang="es-E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(x) </a:t>
            </a:r>
          </a:p>
          <a:p>
            <a:pPr fontAlgn="t"/>
            <a:r>
              <a:rPr lang="es-ES" sz="2000" dirty="0">
                <a:latin typeface="Arial" pitchFamily="34" charset="0"/>
                <a:cs typeface="Arial" pitchFamily="34" charset="0"/>
              </a:rPr>
              <a:t>	[1] 5 </a:t>
            </a:r>
          </a:p>
          <a:p>
            <a:pPr fontAlgn="t"/>
            <a:r>
              <a:rPr lang="es-ES" sz="2000" dirty="0">
                <a:latin typeface="Arial" pitchFamily="34" charset="0"/>
                <a:cs typeface="Arial" pitchFamily="34" charset="0"/>
              </a:rPr>
              <a:t>	</a:t>
            </a:r>
            <a:r>
              <a:rPr lang="es-E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&gt; </a:t>
            </a:r>
            <a:r>
              <a:rPr lang="es-ES" sz="2000" dirty="0" err="1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length</a:t>
            </a:r>
            <a:r>
              <a:rPr lang="es-E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(y)</a:t>
            </a:r>
          </a:p>
          <a:p>
            <a:pPr fontAlgn="t"/>
            <a:r>
              <a:rPr lang="es-ES" sz="2000" dirty="0">
                <a:latin typeface="Arial" pitchFamily="34" charset="0"/>
                <a:cs typeface="Arial" pitchFamily="34" charset="0"/>
              </a:rPr>
              <a:t>	 [1] 10</a:t>
            </a:r>
          </a:p>
          <a:p>
            <a:pPr fontAlgn="t"/>
            <a:r>
              <a:rPr lang="es-ES" sz="2000" dirty="0">
                <a:latin typeface="Arial" pitchFamily="34" charset="0"/>
                <a:cs typeface="Arial" pitchFamily="34" charset="0"/>
              </a:rPr>
              <a:t>	</a:t>
            </a:r>
            <a:r>
              <a:rPr lang="es-E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 &gt;</a:t>
            </a:r>
            <a:endParaRPr lang="es-ES" sz="2000" dirty="0">
              <a:latin typeface="Arial" pitchFamily="34" charset="0"/>
              <a:cs typeface="Arial" pitchFamily="34" charset="0"/>
            </a:endParaRPr>
          </a:p>
          <a:p>
            <a:pPr fontAlgn="t"/>
            <a:r>
              <a:rPr lang="es-E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" sz="2000" b="1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Observe </a:t>
            </a:r>
            <a:r>
              <a:rPr lang="es-ES" sz="2000" b="1" dirty="0" err="1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that</a:t>
            </a:r>
            <a:r>
              <a:rPr lang="es-ES" sz="2000" b="1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length</a:t>
            </a:r>
            <a:r>
              <a:rPr lang="es-E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(y) = 2* </a:t>
            </a:r>
            <a:r>
              <a:rPr lang="es-E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length</a:t>
            </a:r>
            <a:r>
              <a:rPr lang="es-E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(x)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Examples on vector Arithmetic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A2B2F-2620-4688-9733-1AFA6D033BAB}" type="datetime3">
              <a:rPr lang="en-US" smtClean="0"/>
              <a:pPr/>
              <a:t>27 February 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04800" y="1524000"/>
            <a:ext cx="86868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9</a:t>
            </a:r>
          </a:p>
          <a:p>
            <a:pPr fontAlgn="t"/>
            <a:r>
              <a:rPr lang="pt-BR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251BED"/>
                </a:solidFill>
              </a:rPr>
              <a:t>&gt; x&lt;-</a:t>
            </a:r>
            <a:r>
              <a:rPr lang="en-US" sz="2000" dirty="0" err="1">
                <a:solidFill>
                  <a:srgbClr val="251BED"/>
                </a:solidFill>
              </a:rPr>
              <a:t>seq</a:t>
            </a:r>
            <a:r>
              <a:rPr lang="en-US" sz="2000" dirty="0">
                <a:solidFill>
                  <a:srgbClr val="251BED"/>
                </a:solidFill>
              </a:rPr>
              <a:t>(1,10,3) </a:t>
            </a:r>
          </a:p>
          <a:p>
            <a:pPr fontAlgn="t"/>
            <a:r>
              <a:rPr lang="en-US" sz="2000" dirty="0">
                <a:solidFill>
                  <a:srgbClr val="251BED"/>
                </a:solidFill>
              </a:rPr>
              <a:t>	&gt; y&lt;-</a:t>
            </a:r>
            <a:r>
              <a:rPr lang="en-US" sz="2000" dirty="0" err="1">
                <a:solidFill>
                  <a:srgbClr val="251BED"/>
                </a:solidFill>
              </a:rPr>
              <a:t>seq</a:t>
            </a:r>
            <a:r>
              <a:rPr lang="en-US" sz="2000" dirty="0">
                <a:solidFill>
                  <a:srgbClr val="251BED"/>
                </a:solidFill>
              </a:rPr>
              <a:t>(1,10) </a:t>
            </a:r>
          </a:p>
          <a:p>
            <a:pPr fontAlgn="t"/>
            <a:r>
              <a:rPr lang="en-US" sz="2000" dirty="0">
                <a:solidFill>
                  <a:srgbClr val="251BED"/>
                </a:solidFill>
              </a:rPr>
              <a:t>	&gt; x </a:t>
            </a:r>
          </a:p>
          <a:p>
            <a:pPr fontAlgn="t"/>
            <a:r>
              <a:rPr lang="en-US" sz="2000" dirty="0"/>
              <a:t>	[1] 1 4 7 10 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y</a:t>
            </a:r>
          </a:p>
          <a:p>
            <a:pPr fontAlgn="t"/>
            <a:r>
              <a:rPr lang="en-US" sz="2000" dirty="0"/>
              <a:t>	 [1] 1 2 3 4 5 6 7 8 9 10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</a:t>
            </a:r>
            <a:r>
              <a:rPr lang="en-US" sz="2000" dirty="0" err="1">
                <a:solidFill>
                  <a:srgbClr val="251BED"/>
                </a:solidFill>
              </a:rPr>
              <a:t>x+y</a:t>
            </a:r>
            <a:r>
              <a:rPr lang="en-US" sz="2000" dirty="0">
                <a:solidFill>
                  <a:srgbClr val="251BED"/>
                </a:solidFill>
              </a:rPr>
              <a:t> </a:t>
            </a:r>
          </a:p>
          <a:p>
            <a:pPr fontAlgn="t"/>
            <a:r>
              <a:rPr lang="en-US" sz="2000" dirty="0"/>
              <a:t>	[1] 2 6 10 14 6 10 14 18 10 14 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FF0000"/>
                </a:solidFill>
              </a:rPr>
              <a:t>Warning message: In x + y : longer object length is not a multiple of shorter object length 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length(x) </a:t>
            </a:r>
          </a:p>
          <a:p>
            <a:pPr fontAlgn="t"/>
            <a:r>
              <a:rPr lang="en-US" sz="2000" dirty="0"/>
              <a:t>	[1] 4 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length(y) </a:t>
            </a:r>
          </a:p>
          <a:p>
            <a:pPr fontAlgn="t"/>
            <a:r>
              <a:rPr lang="en-US" sz="2000" dirty="0"/>
              <a:t>	[1] 10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 &gt;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Vector Indexing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A6CD-DDBA-4B36-AA49-D7AD1BB64C24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8001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We can also identify the vector elements by index 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This vector indexing is also used to create new elements by selecting specified elements through indexing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We eliminate an element from vector by using negative index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Following are the examples which shows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	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Vector Indexing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A6CD-DDBA-4B36-AA49-D7AD1BB64C24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80010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1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create a vector x=[21,34,12,43] and hence create a new vector y with first and third elements of vector x that is y=[21,12]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x&lt;-c(21,34,12,43)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51BED"/>
                </a:solidFill>
              </a:rPr>
              <a:t>	</a:t>
            </a:r>
            <a:r>
              <a:rPr lang="es-ES" sz="2000" dirty="0">
                <a:solidFill>
                  <a:srgbClr val="251BED"/>
                </a:solidFill>
              </a:rPr>
              <a:t>&gt; x&lt;-c(21,34,12,43) </a:t>
            </a:r>
          </a:p>
          <a:p>
            <a:pPr>
              <a:lnSpc>
                <a:spcPct val="150000"/>
              </a:lnSpc>
            </a:pPr>
            <a:r>
              <a:rPr lang="es-ES" sz="2000" dirty="0">
                <a:solidFill>
                  <a:srgbClr val="251BED"/>
                </a:solidFill>
              </a:rPr>
              <a:t>	 &gt; y&lt;-c(x[1],x[3])</a:t>
            </a:r>
          </a:p>
          <a:p>
            <a:pPr>
              <a:lnSpc>
                <a:spcPct val="150000"/>
              </a:lnSpc>
            </a:pPr>
            <a:r>
              <a:rPr lang="es-ES" sz="2000" dirty="0">
                <a:solidFill>
                  <a:srgbClr val="251BED"/>
                </a:solidFill>
              </a:rPr>
              <a:t>	 &gt; y 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	[1] 21 12 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&gt;</a:t>
            </a:r>
            <a:r>
              <a:rPr lang="es-ES" sz="2000" dirty="0"/>
              <a:t> 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Vector Indexing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A6CD-DDBA-4B36-AA49-D7AD1BB64C24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80010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2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create a vector x=[21,34,12,43] and hence create a new vector y with first and fourth elements of vector x that is y=[21,43]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x&lt;-c(21,34,12,43)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51BED"/>
                </a:solidFill>
              </a:rPr>
              <a:t>	</a:t>
            </a:r>
            <a:r>
              <a:rPr lang="es-ES" sz="2000" dirty="0">
                <a:solidFill>
                  <a:srgbClr val="251BED"/>
                </a:solidFill>
              </a:rPr>
              <a:t>&gt; x&lt;-c(21,34,12,43) </a:t>
            </a:r>
          </a:p>
          <a:p>
            <a:pPr fontAlgn="t"/>
            <a:r>
              <a:rPr lang="es-ES" sz="2000" dirty="0">
                <a:solidFill>
                  <a:srgbClr val="251BED"/>
                </a:solidFill>
              </a:rPr>
              <a:t>	&gt; y&lt;-x[c(1,4)] </a:t>
            </a:r>
          </a:p>
          <a:p>
            <a:pPr fontAlgn="t"/>
            <a:r>
              <a:rPr lang="es-ES" sz="2000" dirty="0">
                <a:solidFill>
                  <a:srgbClr val="251BED"/>
                </a:solidFill>
              </a:rPr>
              <a:t>	&gt; y</a:t>
            </a:r>
            <a:r>
              <a:rPr lang="es-ES" sz="2000" dirty="0"/>
              <a:t> </a:t>
            </a:r>
          </a:p>
          <a:p>
            <a:pPr fontAlgn="t"/>
            <a:r>
              <a:rPr lang="es-ES" sz="2000" dirty="0"/>
              <a:t>	[1] 21 43 </a:t>
            </a:r>
          </a:p>
          <a:p>
            <a:pPr fontAlgn="t"/>
            <a:r>
              <a:rPr lang="es-E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&gt; 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Vector Indexing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A6CD-DDBA-4B36-AA49-D7AD1BB64C24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800100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3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create a vector x with 10 elements from 21 to 30 with increment 1 and hence create new vector y which contains the 2</a:t>
            </a:r>
            <a:r>
              <a:rPr lang="en-US" sz="2000" baseline="30000" dirty="0">
                <a:latin typeface="Arial" pitchFamily="34" charset="0"/>
                <a:cs typeface="Arial" pitchFamily="34" charset="0"/>
              </a:rPr>
              <a:t>nd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to 6</a:t>
            </a:r>
            <a:r>
              <a:rPr lang="en-US" sz="2000" baseline="30000" dirty="0">
                <a:latin typeface="Arial" pitchFamily="34" charset="0"/>
                <a:cs typeface="Arial" pitchFamily="34" charset="0"/>
              </a:rPr>
              <a:t>th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elements of the vector x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fontAlgn="t"/>
            <a:r>
              <a:rPr lang="en-U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&gt; x&lt;-21:30 </a:t>
            </a:r>
          </a:p>
          <a:p>
            <a:pPr fontAlgn="t"/>
            <a:r>
              <a:rPr lang="es-ES" sz="2000" dirty="0">
                <a:solidFill>
                  <a:srgbClr val="251BED"/>
                </a:solidFill>
              </a:rPr>
              <a:t>	&gt; x</a:t>
            </a:r>
            <a:r>
              <a:rPr lang="es-ES" sz="2000" dirty="0"/>
              <a:t> </a:t>
            </a:r>
          </a:p>
          <a:p>
            <a:pPr fontAlgn="t"/>
            <a:r>
              <a:rPr lang="es-ES" sz="2000" dirty="0"/>
              <a:t>	[1] 21 22 23 24 25 26 27 28 29 30 </a:t>
            </a:r>
          </a:p>
          <a:p>
            <a:pPr fontAlgn="t"/>
            <a:r>
              <a:rPr lang="es-E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&gt; y&lt;-x[c(2:6)] </a:t>
            </a:r>
          </a:p>
          <a:p>
            <a:pPr fontAlgn="t"/>
            <a:r>
              <a:rPr lang="es-ES" sz="2000" dirty="0">
                <a:solidFill>
                  <a:srgbClr val="251BED"/>
                </a:solidFill>
              </a:rPr>
              <a:t>	&gt; y </a:t>
            </a:r>
          </a:p>
          <a:p>
            <a:pPr fontAlgn="t"/>
            <a:r>
              <a:rPr lang="es-ES" sz="2000" dirty="0"/>
              <a:t>	[1] 22 23 24 25 26 </a:t>
            </a:r>
          </a:p>
          <a:p>
            <a:pPr fontAlgn="t"/>
            <a:r>
              <a:rPr lang="es-E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&gt;</a:t>
            </a:r>
            <a:r>
              <a:rPr lang="es-ES" sz="2000" dirty="0"/>
              <a:t> 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Vector Indexing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A6CD-DDBA-4B36-AA49-D7AD1BB64C24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80010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4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this example shows the creation of new vectors with repeated elements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fontAlgn="t"/>
            <a:r>
              <a:rPr lang="en-U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 &gt; x&lt;-</a:t>
            </a:r>
            <a:r>
              <a:rPr lang="es-ES" sz="2000" dirty="0" err="1">
                <a:solidFill>
                  <a:srgbClr val="251BED"/>
                </a:solidFill>
              </a:rPr>
              <a:t>seq</a:t>
            </a:r>
            <a:r>
              <a:rPr lang="es-ES" sz="2000" dirty="0">
                <a:solidFill>
                  <a:srgbClr val="251BED"/>
                </a:solidFill>
              </a:rPr>
              <a:t>(21:30) </a:t>
            </a:r>
          </a:p>
          <a:p>
            <a:pPr fontAlgn="t"/>
            <a:r>
              <a:rPr lang="es-ES" sz="2000" dirty="0">
                <a:solidFill>
                  <a:srgbClr val="251BED"/>
                </a:solidFill>
              </a:rPr>
              <a:t>	&gt; x </a:t>
            </a:r>
          </a:p>
          <a:p>
            <a:pPr fontAlgn="t"/>
            <a:r>
              <a:rPr lang="es-ES" sz="2000" dirty="0"/>
              <a:t>	[1] 1 2 3 4 5 6 7 8 9 10 </a:t>
            </a:r>
          </a:p>
          <a:p>
            <a:pPr fontAlgn="t"/>
            <a:r>
              <a:rPr lang="es-E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&gt; y&lt;-x[c(1,1,3,3,3,5,8,8)] </a:t>
            </a:r>
          </a:p>
          <a:p>
            <a:pPr fontAlgn="t"/>
            <a:r>
              <a:rPr lang="es-ES" sz="2000" dirty="0">
                <a:solidFill>
                  <a:srgbClr val="251BED"/>
                </a:solidFill>
              </a:rPr>
              <a:t>	&gt; y </a:t>
            </a:r>
          </a:p>
          <a:p>
            <a:pPr fontAlgn="t"/>
            <a:r>
              <a:rPr lang="es-ES" sz="2000" dirty="0"/>
              <a:t>	[1] 1 1 3 3 3 5 8 8 </a:t>
            </a:r>
          </a:p>
          <a:p>
            <a:pPr fontAlgn="t"/>
            <a:r>
              <a:rPr lang="es-E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&gt; 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Vector Indexing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A6CD-DDBA-4B36-AA49-D7AD1BB64C24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80010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5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create a vector x=[12, 24, 34, 46, 54] and hence create a new vector excluding first element of vector x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fontAlgn="t"/>
            <a:r>
              <a:rPr lang="en-U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&gt; x&lt;-c(12,24,34,46,54) </a:t>
            </a:r>
          </a:p>
          <a:p>
            <a:pPr fontAlgn="t"/>
            <a:r>
              <a:rPr lang="es-ES" sz="2000" dirty="0">
                <a:solidFill>
                  <a:srgbClr val="251BED"/>
                </a:solidFill>
              </a:rPr>
              <a:t>	&gt; x </a:t>
            </a:r>
          </a:p>
          <a:p>
            <a:pPr fontAlgn="t"/>
            <a:r>
              <a:rPr lang="es-ES" sz="2000" dirty="0"/>
              <a:t>	[1] 12 24 34 46 54 </a:t>
            </a:r>
          </a:p>
          <a:p>
            <a:pPr fontAlgn="t"/>
            <a:r>
              <a:rPr lang="es-E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&gt; y&lt;-x[-1] </a:t>
            </a:r>
          </a:p>
          <a:p>
            <a:pPr fontAlgn="t"/>
            <a:r>
              <a:rPr lang="es-ES" sz="2000" dirty="0">
                <a:solidFill>
                  <a:srgbClr val="251BED"/>
                </a:solidFill>
              </a:rPr>
              <a:t>	&gt; y </a:t>
            </a:r>
          </a:p>
          <a:p>
            <a:pPr fontAlgn="t"/>
            <a:r>
              <a:rPr lang="es-ES" sz="2000" dirty="0"/>
              <a:t>	[1] 24 34 46 54 </a:t>
            </a:r>
          </a:p>
          <a:p>
            <a:pPr fontAlgn="t"/>
            <a:r>
              <a:rPr lang="es-E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&gt;</a:t>
            </a:r>
            <a:r>
              <a:rPr lang="es-ES" sz="2000" dirty="0"/>
              <a:t> 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Vector Indexing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A6CD-DDBA-4B36-AA49-D7AD1BB64C24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80010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6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create a vector x=[12, 24, 34, 46, 54] and hence create a new vector excluding first three elements of vector x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fontAlgn="t"/>
            <a:r>
              <a:rPr lang="en-U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 &gt; x&lt;-c(12,24,34,46,54) </a:t>
            </a:r>
          </a:p>
          <a:p>
            <a:pPr fontAlgn="t"/>
            <a:r>
              <a:rPr lang="es-ES" sz="2000" dirty="0">
                <a:solidFill>
                  <a:srgbClr val="251BED"/>
                </a:solidFill>
              </a:rPr>
              <a:t>	&gt; x </a:t>
            </a:r>
          </a:p>
          <a:p>
            <a:pPr fontAlgn="t"/>
            <a:r>
              <a:rPr lang="es-ES" sz="2000" dirty="0"/>
              <a:t>	[1] 12 24 34 46 54 </a:t>
            </a:r>
          </a:p>
          <a:p>
            <a:pPr fontAlgn="t"/>
            <a:r>
              <a:rPr lang="es-E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&gt; y&lt;-x[-1:-3] </a:t>
            </a:r>
          </a:p>
          <a:p>
            <a:pPr fontAlgn="t"/>
            <a:r>
              <a:rPr lang="es-ES" sz="2000" dirty="0">
                <a:solidFill>
                  <a:srgbClr val="251BED"/>
                </a:solidFill>
              </a:rPr>
              <a:t>	&gt; y </a:t>
            </a:r>
          </a:p>
          <a:p>
            <a:pPr fontAlgn="t"/>
            <a:r>
              <a:rPr lang="es-ES" sz="2000" dirty="0"/>
              <a:t>	[1] 46 54 </a:t>
            </a:r>
          </a:p>
          <a:p>
            <a:pPr fontAlgn="t"/>
            <a:r>
              <a:rPr lang="es-E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&gt; 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Vector Indexing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A6CD-DDBA-4B36-AA49-D7AD1BB64C24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80010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7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create a vector x=[12, 24, 34, 46, 54] and hence create a new vector excluding first and third elements of vector x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fontAlgn="t"/>
            <a:r>
              <a:rPr lang="en-U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 &gt; x&lt;-c(12,24,34,46,54) </a:t>
            </a:r>
          </a:p>
          <a:p>
            <a:pPr fontAlgn="t"/>
            <a:r>
              <a:rPr lang="es-ES" sz="2000" dirty="0">
                <a:solidFill>
                  <a:srgbClr val="251BED"/>
                </a:solidFill>
              </a:rPr>
              <a:t>	&gt; x </a:t>
            </a:r>
          </a:p>
          <a:p>
            <a:pPr fontAlgn="t"/>
            <a:r>
              <a:rPr lang="es-ES" sz="2000" dirty="0"/>
              <a:t>	[1] 12 24 34 46 54 </a:t>
            </a:r>
          </a:p>
          <a:p>
            <a:pPr fontAlgn="t"/>
            <a:r>
              <a:rPr lang="es-E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&gt; y&lt;-x[c(-1,-3)] </a:t>
            </a:r>
          </a:p>
          <a:p>
            <a:pPr fontAlgn="t"/>
            <a:r>
              <a:rPr lang="es-ES" sz="2000" dirty="0">
                <a:solidFill>
                  <a:srgbClr val="251BED"/>
                </a:solidFill>
              </a:rPr>
              <a:t>	&gt; y</a:t>
            </a:r>
            <a:r>
              <a:rPr lang="es-ES" sz="2000" dirty="0"/>
              <a:t> </a:t>
            </a:r>
          </a:p>
          <a:p>
            <a:pPr fontAlgn="t"/>
            <a:r>
              <a:rPr lang="es-ES" sz="2000" dirty="0"/>
              <a:t>	[1] 24 46 54 </a:t>
            </a:r>
          </a:p>
          <a:p>
            <a:pPr fontAlgn="t"/>
            <a:r>
              <a:rPr lang="es-E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&gt; 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Vector Indexing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A6CD-DDBA-4B36-AA49-D7AD1BB64C24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80010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8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create a vector x=[12, 24, 34, 46, 54] and hence create a new vector excluding first ,third  and fifth elements of vector x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fontAlgn="t"/>
            <a:r>
              <a:rPr lang="en-U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&gt; x&lt;-c(12,24,34,46,54) </a:t>
            </a:r>
          </a:p>
          <a:p>
            <a:pPr fontAlgn="t"/>
            <a:r>
              <a:rPr lang="es-ES" sz="2000" dirty="0">
                <a:solidFill>
                  <a:srgbClr val="251BED"/>
                </a:solidFill>
              </a:rPr>
              <a:t>	&gt; x </a:t>
            </a:r>
          </a:p>
          <a:p>
            <a:pPr fontAlgn="t"/>
            <a:r>
              <a:rPr lang="es-ES" sz="2000" dirty="0"/>
              <a:t>	[1] 12 24 34 46 54 </a:t>
            </a:r>
          </a:p>
          <a:p>
            <a:pPr fontAlgn="t"/>
            <a:r>
              <a:rPr lang="es-E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&gt; y&lt;-x[c(-1,-3,-5)] </a:t>
            </a:r>
          </a:p>
          <a:p>
            <a:pPr fontAlgn="t"/>
            <a:r>
              <a:rPr lang="es-ES" sz="2000" dirty="0">
                <a:solidFill>
                  <a:srgbClr val="251BED"/>
                </a:solidFill>
              </a:rPr>
              <a:t>	&gt; y </a:t>
            </a:r>
          </a:p>
          <a:p>
            <a:pPr fontAlgn="t"/>
            <a:r>
              <a:rPr lang="es-ES" sz="2000" dirty="0"/>
              <a:t>	[1] 24 46 </a:t>
            </a:r>
          </a:p>
          <a:p>
            <a:pPr fontAlgn="t"/>
            <a:r>
              <a:rPr lang="es-E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&gt;</a:t>
            </a:r>
            <a:r>
              <a:rPr lang="es-ES" sz="2000" dirty="0"/>
              <a:t> 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Vector Indexing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A6CD-DDBA-4B36-AA49-D7AD1BB64C24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80010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9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create a vector x=[12, 24, 34, 46, 54] and hence create a new vector excluding second and fourth elements of vector x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fontAlgn="t"/>
            <a:r>
              <a:rPr lang="en-U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&gt; x&lt;-c(12,24,34,46,54) </a:t>
            </a:r>
          </a:p>
          <a:p>
            <a:pPr fontAlgn="t"/>
            <a:r>
              <a:rPr lang="es-ES" sz="2000" dirty="0">
                <a:solidFill>
                  <a:srgbClr val="251BED"/>
                </a:solidFill>
              </a:rPr>
              <a:t>	&gt; x </a:t>
            </a:r>
          </a:p>
          <a:p>
            <a:pPr fontAlgn="t"/>
            <a:r>
              <a:rPr lang="es-ES" sz="2000" dirty="0"/>
              <a:t>	[1] 12 24 34 46 54 </a:t>
            </a:r>
          </a:p>
          <a:p>
            <a:pPr fontAlgn="t"/>
            <a:r>
              <a:rPr lang="es-E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&gt; y&lt;-x[c(-2,-4)] </a:t>
            </a:r>
          </a:p>
          <a:p>
            <a:pPr fontAlgn="t"/>
            <a:r>
              <a:rPr lang="es-ES" sz="2000" dirty="0">
                <a:solidFill>
                  <a:srgbClr val="251BED"/>
                </a:solidFill>
              </a:rPr>
              <a:t>	&gt; y </a:t>
            </a:r>
          </a:p>
          <a:p>
            <a:pPr fontAlgn="t"/>
            <a:r>
              <a:rPr lang="es-ES" sz="2000" dirty="0"/>
              <a:t>	[1] 12 34 54 </a:t>
            </a:r>
          </a:p>
          <a:p>
            <a:pPr fontAlgn="t"/>
            <a:r>
              <a:rPr lang="es-ES" sz="2000" dirty="0"/>
              <a:t>	</a:t>
            </a:r>
            <a:r>
              <a:rPr lang="es-ES" sz="2000" dirty="0">
                <a:solidFill>
                  <a:srgbClr val="251BED"/>
                </a:solidFill>
              </a:rPr>
              <a:t>&gt;</a:t>
            </a:r>
            <a:r>
              <a:rPr lang="es-ES" sz="2000" dirty="0"/>
              <a:t> 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Vector Element Names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A6CD-DDBA-4B36-AA49-D7AD1BB64C24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80010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We can assign names to the elements of a vector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We remove the names of a vector by assigning NULL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We can refer the elements through their names 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Following are the examples which shows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	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Vector Element Names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A6CD-DDBA-4B36-AA49-D7AD1BB64C24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1676400"/>
            <a:ext cx="8001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1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creating the names for the elements of a vector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</a:t>
            </a:r>
            <a:r>
              <a:rPr lang="en-US" sz="2000" dirty="0" err="1">
                <a:solidFill>
                  <a:srgbClr val="251BED"/>
                </a:solidFill>
              </a:rPr>
              <a:t>rollno</a:t>
            </a:r>
            <a:r>
              <a:rPr lang="en-US" sz="2000" dirty="0">
                <a:solidFill>
                  <a:srgbClr val="251BED"/>
                </a:solidFill>
              </a:rPr>
              <a:t>&lt;-c(10,12,23) </a:t>
            </a:r>
          </a:p>
          <a:p>
            <a:r>
              <a:rPr lang="en-US" sz="2000" dirty="0">
                <a:solidFill>
                  <a:srgbClr val="251BED"/>
                </a:solidFill>
              </a:rPr>
              <a:t>	&gt; names(</a:t>
            </a:r>
            <a:r>
              <a:rPr lang="en-US" sz="2000" dirty="0" err="1">
                <a:solidFill>
                  <a:srgbClr val="251BED"/>
                </a:solidFill>
              </a:rPr>
              <a:t>rollno</a:t>
            </a:r>
            <a:r>
              <a:rPr lang="en-US" sz="2000" dirty="0">
                <a:solidFill>
                  <a:srgbClr val="251BED"/>
                </a:solidFill>
              </a:rPr>
              <a:t>) </a:t>
            </a:r>
          </a:p>
          <a:p>
            <a:r>
              <a:rPr lang="en-US" sz="2000" dirty="0"/>
              <a:t>	NULL 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names(</a:t>
            </a:r>
            <a:r>
              <a:rPr lang="en-US" sz="2000" dirty="0" err="1">
                <a:solidFill>
                  <a:srgbClr val="251BED"/>
                </a:solidFill>
              </a:rPr>
              <a:t>rollno</a:t>
            </a:r>
            <a:r>
              <a:rPr lang="en-US" sz="2000" dirty="0">
                <a:solidFill>
                  <a:srgbClr val="251BED"/>
                </a:solidFill>
              </a:rPr>
              <a:t>)&lt;-c("</a:t>
            </a:r>
            <a:r>
              <a:rPr lang="en-US" sz="2000" dirty="0" err="1">
                <a:solidFill>
                  <a:srgbClr val="251BED"/>
                </a:solidFill>
              </a:rPr>
              <a:t>sunil","valli","chaitanya</a:t>
            </a:r>
            <a:r>
              <a:rPr lang="en-US" sz="2000" dirty="0">
                <a:solidFill>
                  <a:srgbClr val="251BED"/>
                </a:solidFill>
              </a:rPr>
              <a:t>") </a:t>
            </a:r>
          </a:p>
          <a:p>
            <a:r>
              <a:rPr lang="en-US" sz="2000" dirty="0">
                <a:solidFill>
                  <a:srgbClr val="251BED"/>
                </a:solidFill>
              </a:rPr>
              <a:t>	&gt; </a:t>
            </a:r>
            <a:r>
              <a:rPr lang="en-US" sz="2000" dirty="0" err="1">
                <a:solidFill>
                  <a:srgbClr val="251BED"/>
                </a:solidFill>
              </a:rPr>
              <a:t>rollno</a:t>
            </a:r>
            <a:r>
              <a:rPr lang="en-US" sz="2000" dirty="0">
                <a:solidFill>
                  <a:srgbClr val="251BED"/>
                </a:solidFill>
              </a:rPr>
              <a:t>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sunil</a:t>
            </a:r>
            <a:r>
              <a:rPr lang="en-US" sz="2000" dirty="0"/>
              <a:t>  </a:t>
            </a:r>
            <a:r>
              <a:rPr lang="en-US" sz="2000" dirty="0" err="1"/>
              <a:t>valli</a:t>
            </a:r>
            <a:r>
              <a:rPr lang="en-US" sz="2000" dirty="0"/>
              <a:t>  </a:t>
            </a:r>
            <a:r>
              <a:rPr lang="en-US" sz="2000" dirty="0" err="1"/>
              <a:t>chaitanya</a:t>
            </a:r>
            <a:r>
              <a:rPr lang="en-US" sz="2000" dirty="0"/>
              <a:t> </a:t>
            </a:r>
          </a:p>
          <a:p>
            <a:r>
              <a:rPr lang="en-US" sz="2000" dirty="0"/>
              <a:t>	10      12      23 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Vector Element Names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A6CD-DDBA-4B36-AA49-D7AD1BB64C24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1676400"/>
            <a:ext cx="8001000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2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creating and removing the names for the elements of a vector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</a:t>
            </a:r>
            <a:r>
              <a:rPr lang="en-US" sz="2000" dirty="0" err="1">
                <a:solidFill>
                  <a:srgbClr val="251BED"/>
                </a:solidFill>
              </a:rPr>
              <a:t>rollno</a:t>
            </a:r>
            <a:r>
              <a:rPr lang="en-US" sz="2000" dirty="0">
                <a:solidFill>
                  <a:srgbClr val="251BED"/>
                </a:solidFill>
              </a:rPr>
              <a:t>&lt;-c(10,12,23) </a:t>
            </a:r>
          </a:p>
          <a:p>
            <a:r>
              <a:rPr lang="en-US" sz="2000" dirty="0">
                <a:solidFill>
                  <a:srgbClr val="251BED"/>
                </a:solidFill>
              </a:rPr>
              <a:t>	&gt; names(</a:t>
            </a:r>
            <a:r>
              <a:rPr lang="en-US" sz="2000" dirty="0" err="1">
                <a:solidFill>
                  <a:srgbClr val="251BED"/>
                </a:solidFill>
              </a:rPr>
              <a:t>rollno</a:t>
            </a:r>
            <a:r>
              <a:rPr lang="en-US" sz="2000" dirty="0">
                <a:solidFill>
                  <a:srgbClr val="251BED"/>
                </a:solidFill>
              </a:rPr>
              <a:t>) </a:t>
            </a:r>
          </a:p>
          <a:p>
            <a:r>
              <a:rPr lang="en-US" sz="2000" dirty="0"/>
              <a:t>	NULL 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names(</a:t>
            </a:r>
            <a:r>
              <a:rPr lang="en-US" sz="2000" dirty="0" err="1">
                <a:solidFill>
                  <a:srgbClr val="251BED"/>
                </a:solidFill>
              </a:rPr>
              <a:t>rollno</a:t>
            </a:r>
            <a:r>
              <a:rPr lang="en-US" sz="2000" dirty="0">
                <a:solidFill>
                  <a:srgbClr val="251BED"/>
                </a:solidFill>
              </a:rPr>
              <a:t>)&lt;-c("</a:t>
            </a:r>
            <a:r>
              <a:rPr lang="en-US" sz="2000" dirty="0" err="1">
                <a:solidFill>
                  <a:srgbClr val="251BED"/>
                </a:solidFill>
              </a:rPr>
              <a:t>sunil","valli","chaitanya</a:t>
            </a:r>
            <a:r>
              <a:rPr lang="en-US" sz="2000" dirty="0">
                <a:solidFill>
                  <a:srgbClr val="251BED"/>
                </a:solidFill>
              </a:rPr>
              <a:t>") 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</a:t>
            </a:r>
            <a:r>
              <a:rPr lang="en-US" sz="2000" dirty="0" err="1">
                <a:solidFill>
                  <a:srgbClr val="251BED"/>
                </a:solidFill>
              </a:rPr>
              <a:t>rollno</a:t>
            </a:r>
            <a:r>
              <a:rPr lang="en-US" sz="2000" dirty="0">
                <a:solidFill>
                  <a:srgbClr val="251BED"/>
                </a:solidFill>
              </a:rPr>
              <a:t>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sunil</a:t>
            </a:r>
            <a:r>
              <a:rPr lang="en-US" sz="2000" dirty="0"/>
              <a:t>  </a:t>
            </a:r>
            <a:r>
              <a:rPr lang="en-US" sz="2000" dirty="0" err="1"/>
              <a:t>valli</a:t>
            </a:r>
            <a:r>
              <a:rPr lang="en-US" sz="2000" dirty="0"/>
              <a:t>  </a:t>
            </a:r>
            <a:r>
              <a:rPr lang="en-US" sz="2000" dirty="0" err="1"/>
              <a:t>chaitanya</a:t>
            </a:r>
            <a:r>
              <a:rPr lang="en-US" sz="2000" dirty="0"/>
              <a:t> </a:t>
            </a:r>
          </a:p>
          <a:p>
            <a:r>
              <a:rPr lang="en-US" sz="2000" dirty="0"/>
              <a:t>	10      12      23 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names(</a:t>
            </a:r>
            <a:r>
              <a:rPr lang="en-US" sz="2000" dirty="0" err="1">
                <a:solidFill>
                  <a:srgbClr val="251BED"/>
                </a:solidFill>
              </a:rPr>
              <a:t>rollno</a:t>
            </a:r>
            <a:r>
              <a:rPr lang="en-US" sz="2000" dirty="0">
                <a:solidFill>
                  <a:srgbClr val="251BED"/>
                </a:solidFill>
              </a:rPr>
              <a:t>)&lt;-NULL </a:t>
            </a:r>
          </a:p>
          <a:p>
            <a:r>
              <a:rPr lang="en-US" sz="2000" dirty="0">
                <a:solidFill>
                  <a:srgbClr val="251BED"/>
                </a:solidFill>
              </a:rPr>
              <a:t>	&gt; </a:t>
            </a:r>
            <a:r>
              <a:rPr lang="en-US" sz="2000" dirty="0" err="1">
                <a:solidFill>
                  <a:srgbClr val="251BED"/>
                </a:solidFill>
              </a:rPr>
              <a:t>rollno</a:t>
            </a:r>
            <a:r>
              <a:rPr lang="en-US" sz="2000" dirty="0">
                <a:solidFill>
                  <a:srgbClr val="251BED"/>
                </a:solidFill>
              </a:rPr>
              <a:t> </a:t>
            </a:r>
          </a:p>
          <a:p>
            <a:r>
              <a:rPr lang="en-US" sz="2000" dirty="0"/>
              <a:t>	[1] 10 12 23 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2860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Vector Element Names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A6CD-DDBA-4B36-AA49-D7AD1BB64C24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610136"/>
            <a:ext cx="80010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3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creating the names for the elements of a vector and displaying elements using their names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</a:t>
            </a:r>
            <a:r>
              <a:rPr lang="en-US" sz="2000" dirty="0" err="1">
                <a:solidFill>
                  <a:srgbClr val="251BED"/>
                </a:solidFill>
              </a:rPr>
              <a:t>rollno</a:t>
            </a:r>
            <a:r>
              <a:rPr lang="en-US" sz="2000" dirty="0">
                <a:solidFill>
                  <a:srgbClr val="251BED"/>
                </a:solidFill>
              </a:rPr>
              <a:t>&lt;-c(10,12,23) </a:t>
            </a:r>
          </a:p>
          <a:p>
            <a:pPr fontAlgn="t"/>
            <a:r>
              <a:rPr lang="en-US" sz="2000" dirty="0">
                <a:solidFill>
                  <a:srgbClr val="251BED"/>
                </a:solidFill>
              </a:rPr>
              <a:t>	&gt; names(</a:t>
            </a:r>
            <a:r>
              <a:rPr lang="en-US" sz="2000" dirty="0" err="1">
                <a:solidFill>
                  <a:srgbClr val="251BED"/>
                </a:solidFill>
              </a:rPr>
              <a:t>rollno</a:t>
            </a:r>
            <a:r>
              <a:rPr lang="en-US" sz="2000" dirty="0">
                <a:solidFill>
                  <a:srgbClr val="251BED"/>
                </a:solidFill>
              </a:rPr>
              <a:t>) </a:t>
            </a:r>
          </a:p>
          <a:p>
            <a:pPr fontAlgn="t"/>
            <a:r>
              <a:rPr lang="en-US" sz="2000" dirty="0"/>
              <a:t>	NULL 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names(</a:t>
            </a:r>
            <a:r>
              <a:rPr lang="en-US" sz="2000" dirty="0" err="1">
                <a:solidFill>
                  <a:srgbClr val="251BED"/>
                </a:solidFill>
              </a:rPr>
              <a:t>rollno</a:t>
            </a:r>
            <a:r>
              <a:rPr lang="en-US" sz="2000" dirty="0">
                <a:solidFill>
                  <a:srgbClr val="251BED"/>
                </a:solidFill>
              </a:rPr>
              <a:t>)&lt;-c("</a:t>
            </a:r>
            <a:r>
              <a:rPr lang="en-US" sz="2000" dirty="0" err="1">
                <a:solidFill>
                  <a:srgbClr val="251BED"/>
                </a:solidFill>
              </a:rPr>
              <a:t>sunil","valli","chaitanya</a:t>
            </a:r>
            <a:r>
              <a:rPr lang="en-US" sz="2000" dirty="0">
                <a:solidFill>
                  <a:srgbClr val="251BED"/>
                </a:solidFill>
              </a:rPr>
              <a:t>") </a:t>
            </a:r>
          </a:p>
          <a:p>
            <a:pPr fontAlgn="t"/>
            <a:r>
              <a:rPr lang="en-US" sz="2000" dirty="0">
                <a:solidFill>
                  <a:srgbClr val="251BED"/>
                </a:solidFill>
              </a:rPr>
              <a:t>	&gt; </a:t>
            </a:r>
            <a:r>
              <a:rPr lang="en-US" sz="2000" dirty="0" err="1">
                <a:solidFill>
                  <a:srgbClr val="251BED"/>
                </a:solidFill>
              </a:rPr>
              <a:t>rollno</a:t>
            </a:r>
            <a:r>
              <a:rPr lang="en-US" sz="2000" dirty="0">
                <a:solidFill>
                  <a:srgbClr val="251BED"/>
                </a:solidFill>
              </a:rPr>
              <a:t> </a:t>
            </a:r>
          </a:p>
          <a:p>
            <a:pPr fontAlgn="t"/>
            <a:r>
              <a:rPr lang="en-US" sz="2000" dirty="0">
                <a:solidFill>
                  <a:srgbClr val="251BED"/>
                </a:solidFill>
              </a:rPr>
              <a:t>	</a:t>
            </a:r>
            <a:r>
              <a:rPr lang="en-US" sz="2000" dirty="0" err="1"/>
              <a:t>sunil</a:t>
            </a:r>
            <a:r>
              <a:rPr lang="en-US" sz="2000" dirty="0"/>
              <a:t> </a:t>
            </a:r>
            <a:r>
              <a:rPr lang="en-US" sz="2000" dirty="0" err="1"/>
              <a:t>valli</a:t>
            </a:r>
            <a:r>
              <a:rPr lang="en-US" sz="2000" dirty="0"/>
              <a:t> </a:t>
            </a:r>
            <a:r>
              <a:rPr lang="en-US" sz="2000" dirty="0" err="1"/>
              <a:t>chaitanya</a:t>
            </a:r>
            <a:r>
              <a:rPr lang="en-US" sz="2000" dirty="0"/>
              <a:t> </a:t>
            </a:r>
          </a:p>
          <a:p>
            <a:pPr fontAlgn="t"/>
            <a:r>
              <a:rPr lang="en-US" sz="2000" dirty="0"/>
              <a:t>	10 12 23 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</a:t>
            </a:r>
            <a:r>
              <a:rPr lang="en-US" sz="2000" dirty="0" err="1">
                <a:solidFill>
                  <a:srgbClr val="251BED"/>
                </a:solidFill>
              </a:rPr>
              <a:t>rollno</a:t>
            </a:r>
            <a:r>
              <a:rPr lang="en-US" sz="2000" dirty="0">
                <a:solidFill>
                  <a:srgbClr val="251BED"/>
                </a:solidFill>
              </a:rPr>
              <a:t>["</a:t>
            </a:r>
            <a:r>
              <a:rPr lang="en-US" sz="2000" dirty="0" err="1">
                <a:solidFill>
                  <a:srgbClr val="251BED"/>
                </a:solidFill>
              </a:rPr>
              <a:t>sunil</a:t>
            </a:r>
            <a:r>
              <a:rPr lang="en-US" sz="2000" dirty="0">
                <a:solidFill>
                  <a:srgbClr val="251BED"/>
                </a:solidFill>
              </a:rPr>
              <a:t>"] 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 err="1"/>
              <a:t>sunil</a:t>
            </a:r>
            <a:r>
              <a:rPr lang="en-US" sz="2000" dirty="0"/>
              <a:t> </a:t>
            </a:r>
          </a:p>
          <a:p>
            <a:pPr fontAlgn="t"/>
            <a:r>
              <a:rPr lang="en-US" sz="2000" dirty="0"/>
              <a:t>	10 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</a:t>
            </a:r>
            <a:r>
              <a:rPr lang="en-US" sz="2000" dirty="0" err="1">
                <a:solidFill>
                  <a:srgbClr val="251BED"/>
                </a:solidFill>
              </a:rPr>
              <a:t>rollno</a:t>
            </a:r>
            <a:r>
              <a:rPr lang="en-US" sz="2000" dirty="0">
                <a:solidFill>
                  <a:srgbClr val="251BED"/>
                </a:solidFill>
              </a:rPr>
              <a:t>["</a:t>
            </a:r>
            <a:r>
              <a:rPr lang="en-US" sz="2000" dirty="0" err="1">
                <a:solidFill>
                  <a:srgbClr val="251BED"/>
                </a:solidFill>
              </a:rPr>
              <a:t>valli</a:t>
            </a:r>
            <a:r>
              <a:rPr lang="en-US" sz="2000" dirty="0">
                <a:solidFill>
                  <a:srgbClr val="251BED"/>
                </a:solidFill>
              </a:rPr>
              <a:t>"] 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 err="1"/>
              <a:t>valli</a:t>
            </a:r>
            <a:r>
              <a:rPr lang="en-US" sz="2000" dirty="0"/>
              <a:t> </a:t>
            </a:r>
          </a:p>
          <a:p>
            <a:pPr fontAlgn="t"/>
            <a:r>
              <a:rPr lang="en-US" sz="2000" dirty="0"/>
              <a:t>	12 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</a:t>
            </a:r>
            <a:r>
              <a:rPr lang="en-US" sz="2000" dirty="0" err="1">
                <a:solidFill>
                  <a:srgbClr val="251BED"/>
                </a:solidFill>
              </a:rPr>
              <a:t>rollno</a:t>
            </a:r>
            <a:r>
              <a:rPr lang="en-US" sz="2000" dirty="0">
                <a:solidFill>
                  <a:srgbClr val="251BED"/>
                </a:solidFill>
              </a:rPr>
              <a:t>["</a:t>
            </a:r>
            <a:r>
              <a:rPr lang="en-US" sz="2000" dirty="0" err="1">
                <a:solidFill>
                  <a:srgbClr val="251BED"/>
                </a:solidFill>
              </a:rPr>
              <a:t>chaitanya</a:t>
            </a:r>
            <a:r>
              <a:rPr lang="en-US" sz="2000" dirty="0">
                <a:solidFill>
                  <a:srgbClr val="251BED"/>
                </a:solidFill>
              </a:rPr>
              <a:t>"] 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 err="1"/>
              <a:t>chaitanya</a:t>
            </a:r>
            <a:endParaRPr lang="en-US" sz="2000" dirty="0"/>
          </a:p>
          <a:p>
            <a:pPr fontAlgn="t"/>
            <a:r>
              <a:rPr lang="en-US" sz="2000" dirty="0"/>
              <a:t>	 23 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More examples on vectors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A2B2F-2620-4688-9733-1AFA6D033BAB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04800" y="1066800"/>
            <a:ext cx="86106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1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functions work just as well on vectors and matrices as they do on individual objects </a:t>
            </a:r>
          </a:p>
          <a:p>
            <a:pPr fontAlgn="t"/>
            <a:r>
              <a:rPr lang="pt-BR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US" sz="2000" dirty="0">
                <a:solidFill>
                  <a:srgbClr val="251BED"/>
                </a:solidFill>
              </a:rPr>
              <a:t> &gt; x&lt;-</a:t>
            </a:r>
            <a:r>
              <a:rPr lang="en-US" sz="2000" dirty="0" err="1">
                <a:solidFill>
                  <a:srgbClr val="251BED"/>
                </a:solidFill>
              </a:rPr>
              <a:t>seq</a:t>
            </a:r>
            <a:r>
              <a:rPr lang="en-US" sz="2000" dirty="0">
                <a:solidFill>
                  <a:srgbClr val="251BED"/>
                </a:solidFill>
              </a:rPr>
              <a:t>(from=1, to=10, by=1 ) </a:t>
            </a:r>
          </a:p>
          <a:p>
            <a:pPr fontAlgn="t"/>
            <a:r>
              <a:rPr lang="en-US" sz="2000" dirty="0">
                <a:solidFill>
                  <a:srgbClr val="251BED"/>
                </a:solidFill>
              </a:rPr>
              <a:t>	&gt; x</a:t>
            </a:r>
          </a:p>
          <a:p>
            <a:pPr fontAlgn="t"/>
            <a:r>
              <a:rPr lang="en-US" sz="2000" dirty="0"/>
              <a:t>	 [1] 1 2 3 4 5 6 7 8 9 10 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x+2 </a:t>
            </a:r>
          </a:p>
          <a:p>
            <a:pPr fontAlgn="t"/>
            <a:r>
              <a:rPr lang="en-US" sz="2000" dirty="0"/>
              <a:t>	[1] 3 4 5 6 7 8 9 10 11 12 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y&lt;-x*2 </a:t>
            </a:r>
          </a:p>
          <a:p>
            <a:pPr fontAlgn="t"/>
            <a:r>
              <a:rPr lang="en-US" sz="2000" dirty="0">
                <a:solidFill>
                  <a:srgbClr val="251BED"/>
                </a:solidFill>
              </a:rPr>
              <a:t>	&gt; y</a:t>
            </a:r>
          </a:p>
          <a:p>
            <a:pPr fontAlgn="t"/>
            <a:r>
              <a:rPr lang="en-US" sz="2000" dirty="0"/>
              <a:t>	 [1] 2 4 6 8 10 12 14 16 18 20 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x/y </a:t>
            </a:r>
          </a:p>
          <a:p>
            <a:pPr fontAlgn="t"/>
            <a:r>
              <a:rPr lang="en-US" sz="2000" dirty="0"/>
              <a:t>	[1] 0.5 0.5 0.5 0.5 0.5 0.5 0.5 0.5 0.5 0.5 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y/x </a:t>
            </a:r>
          </a:p>
          <a:p>
            <a:pPr fontAlgn="t"/>
            <a:r>
              <a:rPr lang="en-US" sz="2000" dirty="0"/>
              <a:t>	[1] 2 2 2 2 2 2 2 2 2 2 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x^2 </a:t>
            </a:r>
          </a:p>
          <a:p>
            <a:pPr fontAlgn="t"/>
            <a:r>
              <a:rPr lang="en-US" sz="2000" dirty="0"/>
              <a:t>	[1] 1 4 9 16 25 36 49 64 81 100 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x^2+y </a:t>
            </a:r>
          </a:p>
          <a:p>
            <a:pPr fontAlgn="t"/>
            <a:r>
              <a:rPr lang="en-US" sz="2000" dirty="0"/>
              <a:t>	[1] 3 8 15 24 35 48 63 80 99 120</a:t>
            </a:r>
          </a:p>
          <a:p>
            <a:pPr fontAlgn="t"/>
            <a:r>
              <a:rPr lang="en-US" sz="2000" dirty="0"/>
              <a:t>	 </a:t>
            </a:r>
            <a:r>
              <a:rPr lang="en-US" sz="2000" dirty="0">
                <a:solidFill>
                  <a:srgbClr val="251BED"/>
                </a:solidFill>
              </a:rPr>
              <a:t>&gt; 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More examples on vectors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A2B2F-2620-4688-9733-1AFA6D033BAB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04800" y="1676400"/>
            <a:ext cx="86106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2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create objects x1,x2,x3 and x4 and remove using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rm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() function</a:t>
            </a: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&gt; </a:t>
            </a:r>
            <a:r>
              <a:rPr lang="en-US" sz="2000" dirty="0" err="1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ls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() 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character(0) 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&gt; x1&lt;-2 </a:t>
            </a:r>
          </a:p>
          <a:p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&gt; x2&lt;-3 </a:t>
            </a:r>
          </a:p>
          <a:p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&gt; x3&lt;-4 </a:t>
            </a:r>
          </a:p>
          <a:p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&gt; x4&lt;-5 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&gt; </a:t>
            </a:r>
            <a:r>
              <a:rPr lang="en-US" sz="2000" dirty="0" err="1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ls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() 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[1] "x1" "x2" "x3" "x4" 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&gt; </a:t>
            </a:r>
            <a:r>
              <a:rPr lang="en-US" sz="2000" dirty="0" err="1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rm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(x1,x2,x3,x4) </a:t>
            </a:r>
          </a:p>
          <a:p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	&gt; </a:t>
            </a:r>
            <a:r>
              <a:rPr lang="en-US" sz="2000" dirty="0" err="1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ls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() 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character(0) 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	</a:t>
            </a:r>
            <a:r>
              <a:rPr lang="en-US" sz="2000" dirty="0">
                <a:solidFill>
                  <a:srgbClr val="251BED"/>
                </a:solidFill>
                <a:latin typeface="Arial" pitchFamily="34" charset="0"/>
                <a:cs typeface="Arial" pitchFamily="34" charset="0"/>
              </a:rPr>
              <a:t>&gt; 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More examples on vectors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A2B2F-2620-4688-9733-1AFA6D033BAB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28600" y="1447800"/>
            <a:ext cx="86106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5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create a vectors x1=[1,3,5,7] and x2 =[2,4,6,8] and hence compute x1+x2, x2-x1 , x1*x2 and x1/x2</a:t>
            </a:r>
            <a:endParaRPr lang="en-US" sz="2000" dirty="0">
              <a:solidFill>
                <a:srgbClr val="251BED"/>
              </a:solidFill>
            </a:endParaRP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x1&lt;-c(1,3,5,7) </a:t>
            </a:r>
          </a:p>
          <a:p>
            <a:r>
              <a:rPr lang="en-US" sz="2000" dirty="0">
                <a:solidFill>
                  <a:srgbClr val="251BED"/>
                </a:solidFill>
              </a:rPr>
              <a:t>	&gt; x2&lt;-c(2,4,6,8) </a:t>
            </a:r>
          </a:p>
          <a:p>
            <a:r>
              <a:rPr lang="en-US" sz="2000" dirty="0">
                <a:solidFill>
                  <a:srgbClr val="251BED"/>
                </a:solidFill>
              </a:rPr>
              <a:t>	&gt; x1 </a:t>
            </a:r>
          </a:p>
          <a:p>
            <a:r>
              <a:rPr lang="en-US" sz="2000" dirty="0"/>
              <a:t>	[1] 1 3 5 7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 &gt; x2 </a:t>
            </a:r>
          </a:p>
          <a:p>
            <a:r>
              <a:rPr lang="en-US" sz="2000" dirty="0"/>
              <a:t>	[1] 2 4 6 8 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x1+x2 </a:t>
            </a:r>
          </a:p>
          <a:p>
            <a:r>
              <a:rPr lang="en-US" sz="2000" dirty="0"/>
              <a:t>	[1] 3 7 11 15 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x2-x1 </a:t>
            </a:r>
          </a:p>
          <a:p>
            <a:r>
              <a:rPr lang="en-US" sz="2000" dirty="0"/>
              <a:t>	[1] 1 1 1 1 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x1*x2 </a:t>
            </a:r>
          </a:p>
          <a:p>
            <a:r>
              <a:rPr lang="en-US" sz="2000" dirty="0"/>
              <a:t>	[1] 2 12 30 56 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x1/x2 </a:t>
            </a:r>
          </a:p>
          <a:p>
            <a:r>
              <a:rPr lang="en-US" sz="2000" dirty="0"/>
              <a:t>	[1] 0.5000000 0.7500000 0.8333333 0.8750000 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More examples on vectors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A2B2F-2620-4688-9733-1AFA6D033BAB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28600" y="1905000"/>
            <a:ext cx="86106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6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create a vectors x1=[1,3,5,7] and x2 =[2,4,6,8] and hence create a new vector called x3  by multiplying x1 by vector x2</a:t>
            </a:r>
          </a:p>
          <a:p>
            <a:endParaRPr lang="en-US" sz="2000" dirty="0">
              <a:solidFill>
                <a:srgbClr val="251BED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x1&lt;-c(1,3,5,7) </a:t>
            </a:r>
          </a:p>
          <a:p>
            <a:r>
              <a:rPr lang="en-US" sz="2000" dirty="0">
                <a:solidFill>
                  <a:srgbClr val="251BED"/>
                </a:solidFill>
              </a:rPr>
              <a:t>	&gt; x2&lt;-c(2,4,6,8)</a:t>
            </a:r>
          </a:p>
          <a:p>
            <a:r>
              <a:rPr lang="en-US" sz="2000" dirty="0">
                <a:solidFill>
                  <a:srgbClr val="251BED"/>
                </a:solidFill>
              </a:rPr>
              <a:t>	&gt; x1 </a:t>
            </a:r>
          </a:p>
          <a:p>
            <a:r>
              <a:rPr lang="en-US" sz="2000" dirty="0"/>
              <a:t>	[1] 1 3 5 7 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x2 </a:t>
            </a:r>
          </a:p>
          <a:p>
            <a:r>
              <a:rPr lang="en-US" sz="2000" dirty="0"/>
              <a:t>	[1] 2 4 6 8 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x3&lt;-x1*x2 </a:t>
            </a:r>
          </a:p>
          <a:p>
            <a:r>
              <a:rPr lang="en-US" sz="2000" dirty="0">
                <a:solidFill>
                  <a:srgbClr val="251BED"/>
                </a:solidFill>
              </a:rPr>
              <a:t>	&gt; x3 </a:t>
            </a:r>
          </a:p>
          <a:p>
            <a:r>
              <a:rPr lang="en-US" sz="2000" dirty="0"/>
              <a:t>	[1] 2 12 30 56</a:t>
            </a:r>
          </a:p>
          <a:p>
            <a:r>
              <a:rPr lang="en-US" sz="2000" dirty="0"/>
              <a:t>	 </a:t>
            </a:r>
            <a:r>
              <a:rPr lang="en-US" sz="2000" dirty="0">
                <a:solidFill>
                  <a:srgbClr val="251BED"/>
                </a:solidFill>
              </a:rPr>
              <a:t>&gt; 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More examples on vectors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A2B2F-2620-4688-9733-1AFA6D033BAB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28600" y="990600"/>
            <a:ext cx="8610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7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create a vectors x1=[1,3,5,7] and x2 =[2,4,6,8] and hence create a new vectors called x3 = x1*x2 and x4=           and compute the mean of x4</a:t>
            </a:r>
          </a:p>
          <a:p>
            <a:r>
              <a:rPr lang="en-US" sz="2000" dirty="0"/>
              <a:t>	 </a:t>
            </a:r>
            <a:r>
              <a:rPr lang="en-US" sz="2000" dirty="0">
                <a:solidFill>
                  <a:srgbClr val="251BED"/>
                </a:solidFill>
              </a:rPr>
              <a:t>&gt; x1&lt;-c(1,3,5,7) </a:t>
            </a:r>
          </a:p>
          <a:p>
            <a:r>
              <a:rPr lang="en-US" sz="2000" dirty="0">
                <a:solidFill>
                  <a:srgbClr val="251BED"/>
                </a:solidFill>
              </a:rPr>
              <a:t>	&gt; x2&lt;-c(2,4,6,8) </a:t>
            </a:r>
          </a:p>
          <a:p>
            <a:r>
              <a:rPr lang="en-US" sz="2000" dirty="0">
                <a:solidFill>
                  <a:srgbClr val="251BED"/>
                </a:solidFill>
              </a:rPr>
              <a:t>	&gt; x1 </a:t>
            </a:r>
          </a:p>
          <a:p>
            <a:r>
              <a:rPr lang="en-US" sz="2000" dirty="0"/>
              <a:t>	[1] 1 3 5 7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 &gt; x2 </a:t>
            </a:r>
          </a:p>
          <a:p>
            <a:r>
              <a:rPr lang="en-US" sz="2000" dirty="0"/>
              <a:t>	[1] 2 4 6 8 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 &gt; x3&lt;-x1*x2 </a:t>
            </a:r>
          </a:p>
          <a:p>
            <a:r>
              <a:rPr lang="en-US" sz="2000" dirty="0"/>
              <a:t>	&gt; x3 </a:t>
            </a:r>
          </a:p>
          <a:p>
            <a:r>
              <a:rPr lang="en-US" sz="2000" dirty="0"/>
              <a:t>	[1] 2 12 30 56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 &gt; x4&lt;-</a:t>
            </a:r>
            <a:r>
              <a:rPr lang="en-US" sz="2000" dirty="0" err="1">
                <a:solidFill>
                  <a:srgbClr val="251BED"/>
                </a:solidFill>
              </a:rPr>
              <a:t>sqrt</a:t>
            </a:r>
            <a:r>
              <a:rPr lang="en-US" sz="2000" dirty="0">
                <a:solidFill>
                  <a:srgbClr val="251BED"/>
                </a:solidFill>
              </a:rPr>
              <a:t>(x3)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 &gt; x4 </a:t>
            </a:r>
          </a:p>
          <a:p>
            <a:r>
              <a:rPr lang="en-US" sz="2000" dirty="0"/>
              <a:t>	[1] 1.414214 3.464102 5.477226 7.483315 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mean(x4) </a:t>
            </a:r>
          </a:p>
          <a:p>
            <a:r>
              <a:rPr lang="en-US" sz="2000" dirty="0"/>
              <a:t>	[1] 4.459714 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</a:t>
            </a: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638800" y="1295400"/>
            <a:ext cx="619125" cy="5429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More examples on vectors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A2B2F-2620-4688-9733-1AFA6D033BAB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28600" y="990600"/>
            <a:ext cx="8610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8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create a vectors x1=[1,3,5,7] and x2 =[2,4,6,8] and hence create a new vectors called x3 = x1*x2 and x4=           and compute the median of x4</a:t>
            </a:r>
          </a:p>
          <a:p>
            <a:r>
              <a:rPr lang="en-US" sz="2000" dirty="0"/>
              <a:t>	 </a:t>
            </a:r>
            <a:r>
              <a:rPr lang="en-US" sz="2000" dirty="0">
                <a:solidFill>
                  <a:srgbClr val="251BED"/>
                </a:solidFill>
              </a:rPr>
              <a:t>&gt; x1&lt;-c(1,3,5,7) </a:t>
            </a:r>
          </a:p>
          <a:p>
            <a:r>
              <a:rPr lang="en-US" sz="2000" dirty="0">
                <a:solidFill>
                  <a:srgbClr val="251BED"/>
                </a:solidFill>
              </a:rPr>
              <a:t>	&gt; x2&lt;-c(2,4,6,8) </a:t>
            </a:r>
          </a:p>
          <a:p>
            <a:r>
              <a:rPr lang="en-US" sz="2000" dirty="0">
                <a:solidFill>
                  <a:srgbClr val="251BED"/>
                </a:solidFill>
              </a:rPr>
              <a:t>	&gt; x1 </a:t>
            </a:r>
          </a:p>
          <a:p>
            <a:r>
              <a:rPr lang="en-US" sz="2000" dirty="0"/>
              <a:t>	[1] 1 3 5 7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 &gt; x2 </a:t>
            </a:r>
          </a:p>
          <a:p>
            <a:r>
              <a:rPr lang="en-US" sz="2000" dirty="0"/>
              <a:t>	[1] 2 4 6 8 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 &gt; x3&lt;-x1*x2 </a:t>
            </a:r>
          </a:p>
          <a:p>
            <a:r>
              <a:rPr lang="en-US" sz="2000" dirty="0"/>
              <a:t>	&gt; x3 </a:t>
            </a:r>
          </a:p>
          <a:p>
            <a:r>
              <a:rPr lang="en-US" sz="2000" dirty="0"/>
              <a:t>	[1] 2 12 30 56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 &gt; x4&lt;-</a:t>
            </a:r>
            <a:r>
              <a:rPr lang="en-US" sz="2000" dirty="0" err="1">
                <a:solidFill>
                  <a:srgbClr val="251BED"/>
                </a:solidFill>
              </a:rPr>
              <a:t>sqrt</a:t>
            </a:r>
            <a:r>
              <a:rPr lang="en-US" sz="2000" dirty="0">
                <a:solidFill>
                  <a:srgbClr val="251BED"/>
                </a:solidFill>
              </a:rPr>
              <a:t>(x3)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 &gt; x4 </a:t>
            </a:r>
          </a:p>
          <a:p>
            <a:r>
              <a:rPr lang="en-US" sz="2000" dirty="0"/>
              <a:t>	[1] 1.414214 3.464102 5.477226 7.483315 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 &gt; median(x4) </a:t>
            </a:r>
          </a:p>
          <a:p>
            <a:pPr fontAlgn="t"/>
            <a:r>
              <a:rPr lang="en-US" sz="2000" dirty="0"/>
              <a:t>	[1] 4.470664 </a:t>
            </a:r>
          </a:p>
          <a:p>
            <a:pPr fontAlgn="t"/>
            <a:r>
              <a:rPr lang="en-US" sz="2000" dirty="0"/>
              <a:t>	</a:t>
            </a:r>
            <a:r>
              <a:rPr lang="en-US" sz="2000" dirty="0">
                <a:solidFill>
                  <a:srgbClr val="251BED"/>
                </a:solidFill>
              </a:rPr>
              <a:t>&gt; </a:t>
            </a: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638800" y="1295400"/>
            <a:ext cx="619125" cy="5429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More examples on vectors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A2B2F-2620-4688-9733-1AFA6D033BAB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28600" y="990600"/>
            <a:ext cx="86106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Example 9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 a vector of the values of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cos(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at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= 3,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, . . . ,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6.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r>
              <a:rPr lang="pt-BR" sz="2000" dirty="0">
                <a:solidFill>
                  <a:srgbClr val="251BED"/>
                </a:solidFill>
              </a:rPr>
              <a:t>&gt; temp&lt;-seq(3,6,0.1)</a:t>
            </a:r>
          </a:p>
          <a:p>
            <a:r>
              <a:rPr lang="pt-BR" sz="2000" dirty="0">
                <a:solidFill>
                  <a:srgbClr val="251BED"/>
                </a:solidFill>
              </a:rPr>
              <a:t>&gt; temp</a:t>
            </a:r>
          </a:p>
          <a:p>
            <a:r>
              <a:rPr lang="pt-BR" sz="2000" dirty="0">
                <a:solidFill>
                  <a:srgbClr val="251BED"/>
                </a:solidFill>
              </a:rPr>
              <a:t> </a:t>
            </a:r>
            <a:r>
              <a:rPr lang="pt-BR" sz="2000" dirty="0"/>
              <a:t>[1] 3.0 3.1 3.2 3.3 3.4 3.5 3.6 3.7 3.8 3.9 4.0 4.1 4.2 4.3 4.4 4.5</a:t>
            </a:r>
          </a:p>
          <a:p>
            <a:r>
              <a:rPr lang="pt-BR" sz="2000" dirty="0"/>
              <a:t>[17] 4.6 4.7 4.8 4.9 5.0 5.1 5.2 5.3 5.4 5.5 5.6 5.7 5.8 5.9 6.0</a:t>
            </a:r>
          </a:p>
          <a:p>
            <a:r>
              <a:rPr lang="pt-BR" sz="2000" dirty="0">
                <a:solidFill>
                  <a:srgbClr val="251BED"/>
                </a:solidFill>
              </a:rPr>
              <a:t>&gt; exp(temp)*cos(temp)</a:t>
            </a:r>
          </a:p>
          <a:p>
            <a:r>
              <a:rPr lang="pt-BR" sz="2000" dirty="0">
                <a:solidFill>
                  <a:srgbClr val="251BED"/>
                </a:solidFill>
              </a:rPr>
              <a:t> </a:t>
            </a:r>
            <a:r>
              <a:rPr lang="pt-BR" sz="2000" dirty="0"/>
              <a:t>[1] -19.884531 -22.178753 -24.490697 -26.773182 -28.969238 -31.011186</a:t>
            </a:r>
          </a:p>
          <a:p>
            <a:r>
              <a:rPr lang="pt-BR" sz="2000" dirty="0"/>
              <a:t> [7] -32.819775 -34.303360 -35.357194 -35.862834 -35.687732 -34.685042</a:t>
            </a:r>
          </a:p>
          <a:p>
            <a:r>
              <a:rPr lang="pt-BR" sz="2000" dirty="0"/>
              <a:t>[13] -32.693695 -29.538816 -25.032529 -18.975233 -11.157417  -1.362099</a:t>
            </a:r>
          </a:p>
          <a:p>
            <a:r>
              <a:rPr lang="pt-BR" sz="2000" dirty="0"/>
              <a:t>[19]  10.632038  25.046705  42.099201  61.996630  84.929067 111.061586</a:t>
            </a:r>
          </a:p>
          <a:p>
            <a:r>
              <a:rPr lang="pt-BR" sz="2000" dirty="0"/>
              <a:t>[25] 140.525075 173.405776 209.733494 249.468441 292.486707 338.564378</a:t>
            </a:r>
          </a:p>
          <a:p>
            <a:r>
              <a:rPr lang="pt-BR" sz="2000" dirty="0"/>
              <a:t>[31] 387.360340</a:t>
            </a:r>
          </a:p>
          <a:p>
            <a:r>
              <a:rPr lang="pt-BR" sz="2000" dirty="0">
                <a:solidFill>
                  <a:srgbClr val="251BED"/>
                </a:solidFill>
              </a:rPr>
              <a:t>&gt; </a:t>
            </a:r>
            <a:endParaRPr lang="en-US" sz="2000" dirty="0">
              <a:solidFill>
                <a:srgbClr val="251BED"/>
              </a:solidFill>
            </a:endParaRPr>
          </a:p>
          <a:p>
            <a:endParaRPr lang="en-US" sz="2000" dirty="0">
              <a:solidFill>
                <a:srgbClr val="251BED"/>
              </a:solidFill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672340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5A6CD-DDBA-4B36-AA49-D7AD1BB64C24}" type="datetime3">
              <a:rPr lang="en-US" smtClean="0"/>
              <a:pPr/>
              <a:t>27 February 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Sunil N, 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59</a:t>
            </a:fld>
            <a:endParaRPr lang="en-US"/>
          </a:p>
        </p:txBody>
      </p:sp>
      <p:pic>
        <p:nvPicPr>
          <p:cNvPr id="4098" name="Picture 2" descr="D:\EDUCATION\METERIALS\slide-18-72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</TotalTime>
  <Words>2328</Words>
  <Application>Microsoft Office PowerPoint</Application>
  <PresentationFormat>On-screen Show (4:3)</PresentationFormat>
  <Paragraphs>876</Paragraphs>
  <Slides>59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0" baseType="lpstr">
      <vt:lpstr>Office Theme</vt:lpstr>
      <vt:lpstr> PROGRAMMING (Data Types &amp; Vectors)</vt:lpstr>
      <vt:lpstr>Data Types in R</vt:lpstr>
      <vt:lpstr>Data Types in R-Numeric Data</vt:lpstr>
      <vt:lpstr>Data Types in R-Numeric Data</vt:lpstr>
      <vt:lpstr>Data Types in R-Numeric Data</vt:lpstr>
      <vt:lpstr>Data Types in R-Numeric Data</vt:lpstr>
      <vt:lpstr>Data Types in R- Character Data</vt:lpstr>
      <vt:lpstr>Data Types in R- Character Data</vt:lpstr>
      <vt:lpstr>Data Types in R - Dates</vt:lpstr>
      <vt:lpstr>Data Types in R - Dates</vt:lpstr>
      <vt:lpstr>Data Types in R - Dates</vt:lpstr>
      <vt:lpstr>Data Types in R - Dates</vt:lpstr>
      <vt:lpstr>Data Types in R - Dates</vt:lpstr>
      <vt:lpstr>Data Types in R - Dates</vt:lpstr>
      <vt:lpstr>VECTORS, MATRICES &amp; DATA FRAMES</vt:lpstr>
      <vt:lpstr>Data structures in R</vt:lpstr>
      <vt:lpstr>Declaring a Vector</vt:lpstr>
      <vt:lpstr>Declaring a Vector</vt:lpstr>
      <vt:lpstr>The : operator</vt:lpstr>
      <vt:lpstr>The seq() function</vt:lpstr>
      <vt:lpstr>Slide 21</vt:lpstr>
      <vt:lpstr>The rep() function</vt:lpstr>
      <vt:lpstr>Slide 23</vt:lpstr>
      <vt:lpstr>Slide 24</vt:lpstr>
      <vt:lpstr>Examples on vector creation</vt:lpstr>
      <vt:lpstr>Examples on vector creation</vt:lpstr>
      <vt:lpstr>Vector Arithmetic</vt:lpstr>
      <vt:lpstr>Examples on vector Arithmetic</vt:lpstr>
      <vt:lpstr>Examples on vector Arithmetic</vt:lpstr>
      <vt:lpstr>Examples on vector Arithmetic</vt:lpstr>
      <vt:lpstr>Examples on vector Arithmetic</vt:lpstr>
      <vt:lpstr>Examples on vector Arithmetic</vt:lpstr>
      <vt:lpstr>Examples on vector Arithmetic</vt:lpstr>
      <vt:lpstr>Examples on vector Arithmetic</vt:lpstr>
      <vt:lpstr>Recycling</vt:lpstr>
      <vt:lpstr>Examples on vector Arithmetic</vt:lpstr>
      <vt:lpstr>Examples on vector Arithmetic</vt:lpstr>
      <vt:lpstr>Vector Indexing</vt:lpstr>
      <vt:lpstr>Vector Indexing</vt:lpstr>
      <vt:lpstr>Vector Indexing</vt:lpstr>
      <vt:lpstr>Vector Indexing</vt:lpstr>
      <vt:lpstr>Vector Indexing</vt:lpstr>
      <vt:lpstr>Vector Indexing</vt:lpstr>
      <vt:lpstr>Vector Indexing</vt:lpstr>
      <vt:lpstr>Vector Indexing</vt:lpstr>
      <vt:lpstr>Vector Indexing</vt:lpstr>
      <vt:lpstr>Vector Indexing</vt:lpstr>
      <vt:lpstr>Vector Element Names</vt:lpstr>
      <vt:lpstr>Vector Element Names</vt:lpstr>
      <vt:lpstr>Vector Element Names</vt:lpstr>
      <vt:lpstr>Vector Element Names</vt:lpstr>
      <vt:lpstr>More examples on vectors</vt:lpstr>
      <vt:lpstr>More examples on vectors</vt:lpstr>
      <vt:lpstr>More examples on vectors</vt:lpstr>
      <vt:lpstr>More examples on vectors</vt:lpstr>
      <vt:lpstr>More examples on vectors</vt:lpstr>
      <vt:lpstr>More examples on vectors</vt:lpstr>
      <vt:lpstr>More examples on vectors</vt:lpstr>
      <vt:lpstr>Slide 59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 PROGRAMMING INTRODUCTION</dc:title>
  <dc:creator/>
  <cp:lastModifiedBy>sunil</cp:lastModifiedBy>
  <cp:revision>104</cp:revision>
  <dcterms:created xsi:type="dcterms:W3CDTF">2006-08-16T00:00:00Z</dcterms:created>
  <dcterms:modified xsi:type="dcterms:W3CDTF">2019-02-27T00:58:21Z</dcterms:modified>
</cp:coreProperties>
</file>